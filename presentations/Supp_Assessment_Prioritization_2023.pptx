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8" r:id="rId1"/>
    <p:sldMasterId id="2147484190" r:id="rId2"/>
    <p:sldMasterId id="2147484179" r:id="rId3"/>
  </p:sldMasterIdLst>
  <p:notesMasterIdLst>
    <p:notesMasterId r:id="rId31"/>
  </p:notesMasterIdLst>
  <p:sldIdLst>
    <p:sldId id="260" r:id="rId4"/>
    <p:sldId id="294" r:id="rId5"/>
    <p:sldId id="316" r:id="rId6"/>
    <p:sldId id="317" r:id="rId7"/>
    <p:sldId id="328" r:id="rId8"/>
    <p:sldId id="295" r:id="rId9"/>
    <p:sldId id="297" r:id="rId10"/>
    <p:sldId id="299" r:id="rId11"/>
    <p:sldId id="300" r:id="rId12"/>
    <p:sldId id="298" r:id="rId13"/>
    <p:sldId id="320" r:id="rId14"/>
    <p:sldId id="301" r:id="rId15"/>
    <p:sldId id="302" r:id="rId16"/>
    <p:sldId id="303" r:id="rId17"/>
    <p:sldId id="304" r:id="rId18"/>
    <p:sldId id="305" r:id="rId19"/>
    <p:sldId id="307" r:id="rId20"/>
    <p:sldId id="308" r:id="rId21"/>
    <p:sldId id="329" r:id="rId22"/>
    <p:sldId id="309" r:id="rId23"/>
    <p:sldId id="322" r:id="rId24"/>
    <p:sldId id="325" r:id="rId25"/>
    <p:sldId id="326" r:id="rId26"/>
    <p:sldId id="323" r:id="rId27"/>
    <p:sldId id="324" r:id="rId28"/>
    <p:sldId id="311" r:id="rId29"/>
    <p:sldId id="314" r:id="rId30"/>
  </p:sldIdLst>
  <p:sldSz cx="12192000" cy="6858000"/>
  <p:notesSz cx="6858000" cy="9144000"/>
  <p:defaultTextStyle>
    <a:defPPr>
      <a:defRPr lang="en-US"/>
    </a:defPPr>
    <a:lvl1pPr marL="0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1pPr>
    <a:lvl2pPr marL="439598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2pPr>
    <a:lvl3pPr marL="879196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3pPr>
    <a:lvl4pPr marL="1318793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4pPr>
    <a:lvl5pPr marL="1758391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5pPr>
    <a:lvl6pPr marL="2197989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6pPr>
    <a:lvl7pPr marL="2637587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7pPr>
    <a:lvl8pPr marL="3077185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8pPr>
    <a:lvl9pPr marL="3516782" algn="l" defTabSz="879196" rtl="0" eaLnBrk="1" latinLnBrk="0" hangingPunct="1">
      <a:defRPr sz="17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467F"/>
    <a:srgbClr val="007078"/>
    <a:srgbClr val="008998"/>
    <a:srgbClr val="0000EE"/>
    <a:srgbClr val="FF8300"/>
    <a:srgbClr val="D65F00"/>
    <a:srgbClr val="D8EEF7"/>
    <a:srgbClr val="E5F0F7"/>
    <a:srgbClr val="E4EFF5"/>
    <a:srgbClr val="E4E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2" autoAdjust="0"/>
    <p:restoredTop sz="91133" autoAdjust="0"/>
  </p:normalViewPr>
  <p:slideViewPr>
    <p:cSldViewPr snapToGrid="0" snapToObjects="1">
      <p:cViewPr varScale="1">
        <p:scale>
          <a:sx n="80" d="100"/>
          <a:sy n="80" d="100"/>
        </p:scale>
        <p:origin x="73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hantel.wetzel\Desktop\Assessment%20Prioritization%20Presentatio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50410252772458"/>
          <c:y val="0.18767075471064837"/>
          <c:w val="0.82546286443924244"/>
          <c:h val="0.54695544770458682"/>
        </c:manualLayout>
      </c:layout>
      <c:barChart>
        <c:barDir val="col"/>
        <c:grouping val="clustered"/>
        <c:varyColors val="0"/>
        <c:ser>
          <c:idx val="0"/>
          <c:order val="0"/>
          <c:tx>
            <c:v>Frequency</c:v>
          </c:tx>
          <c:spPr>
            <a:solidFill>
              <a:srgbClr val="C00000"/>
            </a:solidFill>
          </c:spPr>
          <c:invertIfNegative val="0"/>
          <c:cat>
            <c:numRef>
              <c:f>'[Assessment Prioritization Presentation.xlsx]Sheet3'!$L$4:$L$8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20</c:v>
                </c:pt>
              </c:numCache>
            </c:numRef>
          </c:cat>
          <c:val>
            <c:numRef>
              <c:f>'[Assessment Prioritization Presentation.xlsx]Sheet3'!$M$4:$M$8</c:f>
              <c:numCache>
                <c:formatCode>General</c:formatCode>
                <c:ptCount val="5"/>
                <c:pt idx="0">
                  <c:v>2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B-4096-9781-A0708613A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0890192"/>
        <c:axId val="470889864"/>
      </c:barChart>
      <c:catAx>
        <c:axId val="4708901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800" dirty="0"/>
                  <a:t>Target Frequency (years)</a:t>
                </a:r>
              </a:p>
            </c:rich>
          </c:tx>
          <c:layout>
            <c:manualLayout>
              <c:xMode val="edge"/>
              <c:yMode val="edge"/>
              <c:x val="0.25900620032659799"/>
              <c:y val="0.86069912101087209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470889864"/>
        <c:crosses val="autoZero"/>
        <c:auto val="1"/>
        <c:lblAlgn val="ctr"/>
        <c:lblOffset val="100"/>
        <c:noMultiLvlLbl val="0"/>
      </c:catAx>
      <c:valAx>
        <c:axId val="4708898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470890192"/>
        <c:crosses val="autoZero"/>
        <c:crossBetween val="between"/>
      </c:valAx>
    </c:plotArea>
    <c:plotVisOnly val="1"/>
    <c:dispBlanksAs val="gap"/>
    <c:showDLblsOverMax val="0"/>
  </c:chart>
  <c:spPr>
    <a:solidFill>
      <a:schemeClr val="bg1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0B0F9-ACCA-8C41-B581-4C1D94E3F992}" type="datetimeFigureOut">
              <a:rPr lang="en-US" smtClean="0"/>
              <a:t>2/23/2022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68CC5-9B2F-654B-A985-9D92985445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91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1pPr>
    <a:lvl2pPr marL="439598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2pPr>
    <a:lvl3pPr marL="879196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3pPr>
    <a:lvl4pPr marL="1318793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4pPr>
    <a:lvl5pPr marL="1758391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5pPr>
    <a:lvl6pPr marL="2197989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6pPr>
    <a:lvl7pPr marL="2637587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7pPr>
    <a:lvl8pPr marL="3077185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8pPr>
    <a:lvl9pPr marL="3516782" algn="l" defTabSz="879196" rtl="0" eaLnBrk="1" latinLnBrk="0" hangingPunct="1">
      <a:defRPr sz="11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68CC5-9B2F-654B-A985-9D92985445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66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5883" y="1595718"/>
            <a:ext cx="8050307" cy="2790224"/>
          </a:xfrm>
        </p:spPr>
        <p:txBody>
          <a:bodyPr lIns="0" tIns="0" rIns="0" bIns="0" anchor="t" anchorCtr="0"/>
          <a:lstStyle>
            <a:lvl1pPr algn="l">
              <a:defRPr sz="8800" spc="-1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0108" y="4385943"/>
            <a:ext cx="7887998" cy="247205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>
                <a:solidFill>
                  <a:srgbClr val="103D72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2" indent="0" algn="ctr">
              <a:buNone/>
              <a:defRPr sz="1600"/>
            </a:lvl5pPr>
            <a:lvl6pPr marL="2285977" indent="0" algn="ctr">
              <a:buNone/>
              <a:defRPr sz="1600"/>
            </a:lvl6pPr>
            <a:lvl7pPr marL="2743172" indent="0" algn="ctr">
              <a:buNone/>
              <a:defRPr sz="1600"/>
            </a:lvl7pPr>
            <a:lvl8pPr marL="3200368" indent="0" algn="ctr">
              <a:buNone/>
              <a:defRPr sz="1600"/>
            </a:lvl8pPr>
            <a:lvl9pPr marL="365756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8178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BLUE">
    <p:bg>
      <p:bgPr>
        <a:solidFill>
          <a:srgbClr val="D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310D-154B-C240-B2EA-0096AFD8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108" y="522833"/>
            <a:ext cx="8089879" cy="1610767"/>
          </a:xfrm>
        </p:spPr>
        <p:txBody>
          <a:bodyPr/>
          <a:lstStyle>
            <a:lvl1pPr>
              <a:defRPr sz="4800">
                <a:solidFill>
                  <a:srgbClr val="1ECAD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455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1B37-B6A0-6347-9A5C-620A7C8B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47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+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6C0D-47F9-6841-BD5D-8664022C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13" y="365760"/>
            <a:ext cx="11343190" cy="1325880"/>
          </a:xfrm>
        </p:spPr>
        <p:txBody>
          <a:bodyPr/>
          <a:lstStyle>
            <a:lvl1pPr>
              <a:defRPr>
                <a:solidFill>
                  <a:srgbClr val="007078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23AFC-DFEA-EA42-B969-F4DC89FB0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413" y="1790700"/>
            <a:ext cx="11343190" cy="4512281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3600">
                <a:solidFill>
                  <a:srgbClr val="00467F"/>
                </a:solidFill>
                <a:latin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2800">
                <a:solidFill>
                  <a:srgbClr val="00467F"/>
                </a:solidFill>
                <a:latin typeface="+mn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2400">
                <a:solidFill>
                  <a:srgbClr val="00467F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2200">
                <a:solidFill>
                  <a:srgbClr val="00467F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2000">
                <a:solidFill>
                  <a:srgbClr val="00467F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4046B-FC7B-BF4D-AC35-6050B2AA2C5B}"/>
              </a:ext>
            </a:extLst>
          </p:cNvPr>
          <p:cNvSpPr txBox="1"/>
          <p:nvPr userDrawn="1"/>
        </p:nvSpPr>
        <p:spPr>
          <a:xfrm>
            <a:off x="11445765" y="6357562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103D72"/>
                </a:solidFill>
                <a:latin typeface="+mn-lt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200" b="1" i="0" smtClean="0">
                <a:solidFill>
                  <a:srgbClr val="103D72"/>
                </a:solidFill>
                <a:latin typeface="+mn-lt"/>
                <a:ea typeface="Arial Narrow" charset="0"/>
                <a:cs typeface="Arial Narrow" charset="0"/>
              </a:rPr>
              <a:pPr marL="0" marR="0" indent="0" algn="l" defTabSz="914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b="1" i="0" dirty="0">
              <a:solidFill>
                <a:srgbClr val="103D72"/>
              </a:solidFill>
              <a:latin typeface="+mn-lt"/>
              <a:ea typeface="Arial Narrow" charset="0"/>
              <a:cs typeface="Arial Narro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0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8F1FAE-B201-8645-B986-B1F9D631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918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light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FDF21FA8-693C-4349-B50A-C002E55F7F5B}"/>
              </a:ext>
            </a:extLst>
          </p:cNvPr>
          <p:cNvSpPr/>
          <p:nvPr userDrawn="1"/>
        </p:nvSpPr>
        <p:spPr>
          <a:xfrm rot="10800000">
            <a:off x="9" y="0"/>
            <a:ext cx="2238703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3155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3FB0C-A041-0D40-8EBA-CC3461F460DB}"/>
              </a:ext>
            </a:extLst>
          </p:cNvPr>
          <p:cNvSpPr txBox="1"/>
          <p:nvPr userDrawn="1"/>
        </p:nvSpPr>
        <p:spPr>
          <a:xfrm>
            <a:off x="3639670" y="-762000"/>
            <a:ext cx="5764306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Big Image Divider Page</a:t>
            </a:r>
          </a:p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Change Picture in the Format Background menu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4860ED-2C07-EB41-9FEE-E420AA655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619" y="907060"/>
            <a:ext cx="9418320" cy="188359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7200" b="0" i="0" baseline="0">
                <a:solidFill>
                  <a:srgbClr val="103D72"/>
                </a:solidFill>
                <a:latin typeface="Cambria" charset="0"/>
                <a:ea typeface="Cambria" charset="0"/>
                <a:cs typeface="Cambr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201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dark"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BF7DC00C-424C-3A43-8BAB-CBE7A5E78DF9}"/>
              </a:ext>
            </a:extLst>
          </p:cNvPr>
          <p:cNvSpPr/>
          <p:nvPr userDrawn="1"/>
        </p:nvSpPr>
        <p:spPr>
          <a:xfrm rot="10800000">
            <a:off x="9" y="0"/>
            <a:ext cx="2238703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3155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691825-53C1-9F41-80DA-101D3F1D6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619" y="907060"/>
            <a:ext cx="9418320" cy="188359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7200" b="0" i="0" baseline="0">
                <a:solidFill>
                  <a:schemeClr val="bg1"/>
                </a:solidFill>
                <a:latin typeface="Cambria" charset="0"/>
                <a:ea typeface="Cambria" charset="0"/>
                <a:cs typeface="Cambri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94B2E-7482-0F42-9C14-2F8806CCA5CA}"/>
              </a:ext>
            </a:extLst>
          </p:cNvPr>
          <p:cNvSpPr txBox="1"/>
          <p:nvPr userDrawn="1"/>
        </p:nvSpPr>
        <p:spPr>
          <a:xfrm>
            <a:off x="3639670" y="-762000"/>
            <a:ext cx="5764306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Big Image Divider Page</a:t>
            </a:r>
          </a:p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Change Picture in the Format Background menu</a:t>
            </a:r>
          </a:p>
        </p:txBody>
      </p:sp>
    </p:spTree>
    <p:extLst>
      <p:ext uri="{BB962C8B-B14F-4D97-AF65-F5344CB8AC3E}">
        <p14:creationId xmlns:p14="http://schemas.microsoft.com/office/powerpoint/2010/main" val="211998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TEAL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7607" y="2285459"/>
            <a:ext cx="9594187" cy="2127377"/>
          </a:xfrm>
        </p:spPr>
        <p:txBody>
          <a:bodyPr lIns="0" tIns="0" rIns="0" bIns="0" anchor="t" anchorCtr="0"/>
          <a:lstStyle>
            <a:lvl1pPr algn="l">
              <a:defRPr sz="8640" spc="-12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7607" y="4870120"/>
            <a:ext cx="9080500" cy="19878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>
                <a:solidFill>
                  <a:srgbClr val="103D72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7" indent="0" algn="ctr">
              <a:buNone/>
              <a:defRPr sz="1600"/>
            </a:lvl4pPr>
            <a:lvl5pPr marL="1828782" indent="0" algn="ctr">
              <a:buNone/>
              <a:defRPr sz="1600"/>
            </a:lvl5pPr>
            <a:lvl6pPr marL="2285977" indent="0" algn="ctr">
              <a:buNone/>
              <a:defRPr sz="1600"/>
            </a:lvl6pPr>
            <a:lvl7pPr marL="2743172" indent="0" algn="ctr">
              <a:buNone/>
              <a:defRPr sz="1600"/>
            </a:lvl7pPr>
            <a:lvl8pPr marL="3200368" indent="0" algn="ctr">
              <a:buNone/>
              <a:defRPr sz="1600"/>
            </a:lvl8pPr>
            <a:lvl9pPr marL="365756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BLUE w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0681-16A3-C346-9519-69310A1E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484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GRAY wid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BE0A-777D-504C-9E3D-8D4D2A43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327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3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6D79893C-AE73-C043-942F-2E89F031DFE2}"/>
              </a:ext>
            </a:extLst>
          </p:cNvPr>
          <p:cNvSpPr/>
          <p:nvPr userDrawn="1"/>
        </p:nvSpPr>
        <p:spPr>
          <a:xfrm rot="16200000" flipH="1">
            <a:off x="-1307178" y="1487187"/>
            <a:ext cx="6659955" cy="4082923"/>
          </a:xfrm>
          <a:custGeom>
            <a:avLst/>
            <a:gdLst>
              <a:gd name="connsiteX0" fmla="*/ 0 w 6504497"/>
              <a:gd name="connsiteY0" fmla="*/ 0 h 2032239"/>
              <a:gd name="connsiteX1" fmla="*/ 6504497 w 6504497"/>
              <a:gd name="connsiteY1" fmla="*/ 0 h 2032239"/>
              <a:gd name="connsiteX2" fmla="*/ 6504497 w 6504497"/>
              <a:gd name="connsiteY2" fmla="*/ 6484 h 2032239"/>
              <a:gd name="connsiteX3" fmla="*/ 6476264 w 6504497"/>
              <a:gd name="connsiteY3" fmla="*/ 8249 h 2032239"/>
              <a:gd name="connsiteX4" fmla="*/ 86067 w 6504497"/>
              <a:gd name="connsiteY4" fmla="*/ 1877235 h 2032239"/>
              <a:gd name="connsiteX5" fmla="*/ 0 w 6504497"/>
              <a:gd name="connsiteY5" fmla="*/ 2032239 h 2032239"/>
              <a:gd name="connsiteX6" fmla="*/ 0 w 6504497"/>
              <a:gd name="connsiteY6" fmla="*/ 0 h 2032239"/>
              <a:gd name="connsiteX0" fmla="*/ 9298 w 6504497"/>
              <a:gd name="connsiteY0" fmla="*/ 0 h 4068349"/>
              <a:gd name="connsiteX1" fmla="*/ 6504497 w 6504497"/>
              <a:gd name="connsiteY1" fmla="*/ 2036110 h 4068349"/>
              <a:gd name="connsiteX2" fmla="*/ 6504497 w 6504497"/>
              <a:gd name="connsiteY2" fmla="*/ 2042594 h 4068349"/>
              <a:gd name="connsiteX3" fmla="*/ 6476264 w 6504497"/>
              <a:gd name="connsiteY3" fmla="*/ 2044359 h 4068349"/>
              <a:gd name="connsiteX4" fmla="*/ 86067 w 6504497"/>
              <a:gd name="connsiteY4" fmla="*/ 3913345 h 4068349"/>
              <a:gd name="connsiteX5" fmla="*/ 0 w 6504497"/>
              <a:gd name="connsiteY5" fmla="*/ 4068349 h 4068349"/>
              <a:gd name="connsiteX6" fmla="*/ 9298 w 6504497"/>
              <a:gd name="connsiteY6" fmla="*/ 0 h 4068349"/>
              <a:gd name="connsiteX0" fmla="*/ 9298 w 6625021"/>
              <a:gd name="connsiteY0" fmla="*/ 0 h 4068349"/>
              <a:gd name="connsiteX1" fmla="*/ 6504497 w 6625021"/>
              <a:gd name="connsiteY1" fmla="*/ 2036110 h 4068349"/>
              <a:gd name="connsiteX2" fmla="*/ 6504497 w 6625021"/>
              <a:gd name="connsiteY2" fmla="*/ 2042594 h 4068349"/>
              <a:gd name="connsiteX3" fmla="*/ 6625021 w 6625021"/>
              <a:gd name="connsiteY3" fmla="*/ 2044360 h 4068349"/>
              <a:gd name="connsiteX4" fmla="*/ 86067 w 6625021"/>
              <a:gd name="connsiteY4" fmla="*/ 3913345 h 4068349"/>
              <a:gd name="connsiteX5" fmla="*/ 0 w 6625021"/>
              <a:gd name="connsiteY5" fmla="*/ 4068349 h 4068349"/>
              <a:gd name="connsiteX6" fmla="*/ 9298 w 6625021"/>
              <a:gd name="connsiteY6" fmla="*/ 0 h 4068349"/>
              <a:gd name="connsiteX0" fmla="*/ 9298 w 6625021"/>
              <a:gd name="connsiteY0" fmla="*/ 0 h 4068349"/>
              <a:gd name="connsiteX1" fmla="*/ 6504497 w 6625021"/>
              <a:gd name="connsiteY1" fmla="*/ 2036110 h 4068349"/>
              <a:gd name="connsiteX2" fmla="*/ 6513793 w 6625021"/>
              <a:gd name="connsiteY2" fmla="*/ 1921729 h 4068349"/>
              <a:gd name="connsiteX3" fmla="*/ 6625021 w 6625021"/>
              <a:gd name="connsiteY3" fmla="*/ 2044360 h 4068349"/>
              <a:gd name="connsiteX4" fmla="*/ 86067 w 6625021"/>
              <a:gd name="connsiteY4" fmla="*/ 3913345 h 4068349"/>
              <a:gd name="connsiteX5" fmla="*/ 0 w 6625021"/>
              <a:gd name="connsiteY5" fmla="*/ 4068349 h 4068349"/>
              <a:gd name="connsiteX6" fmla="*/ 9298 w 6625021"/>
              <a:gd name="connsiteY6" fmla="*/ 0 h 4068349"/>
              <a:gd name="connsiteX0" fmla="*/ 9298 w 6736929"/>
              <a:gd name="connsiteY0" fmla="*/ 0 h 4068349"/>
              <a:gd name="connsiteX1" fmla="*/ 6504497 w 6736929"/>
              <a:gd name="connsiteY1" fmla="*/ 2036110 h 4068349"/>
              <a:gd name="connsiteX2" fmla="*/ 6736929 w 6736929"/>
              <a:gd name="connsiteY2" fmla="*/ 1103566 h 4068349"/>
              <a:gd name="connsiteX3" fmla="*/ 6625021 w 6736929"/>
              <a:gd name="connsiteY3" fmla="*/ 2044360 h 4068349"/>
              <a:gd name="connsiteX4" fmla="*/ 86067 w 6736929"/>
              <a:gd name="connsiteY4" fmla="*/ 3913345 h 4068349"/>
              <a:gd name="connsiteX5" fmla="*/ 0 w 6736929"/>
              <a:gd name="connsiteY5" fmla="*/ 4068349 h 4068349"/>
              <a:gd name="connsiteX6" fmla="*/ 9298 w 6736929"/>
              <a:gd name="connsiteY6" fmla="*/ 0 h 4068349"/>
              <a:gd name="connsiteX0" fmla="*/ 9298 w 6736929"/>
              <a:gd name="connsiteY0" fmla="*/ 0 h 4068349"/>
              <a:gd name="connsiteX1" fmla="*/ 6550987 w 6736929"/>
              <a:gd name="connsiteY1" fmla="*/ 9297 h 4068349"/>
              <a:gd name="connsiteX2" fmla="*/ 6736929 w 6736929"/>
              <a:gd name="connsiteY2" fmla="*/ 1103566 h 4068349"/>
              <a:gd name="connsiteX3" fmla="*/ 6625021 w 6736929"/>
              <a:gd name="connsiteY3" fmla="*/ 2044360 h 4068349"/>
              <a:gd name="connsiteX4" fmla="*/ 86067 w 6736929"/>
              <a:gd name="connsiteY4" fmla="*/ 3913345 h 4068349"/>
              <a:gd name="connsiteX5" fmla="*/ 0 w 6736929"/>
              <a:gd name="connsiteY5" fmla="*/ 4068349 h 4068349"/>
              <a:gd name="connsiteX6" fmla="*/ 9298 w 6736929"/>
              <a:gd name="connsiteY6" fmla="*/ 0 h 4068349"/>
              <a:gd name="connsiteX0" fmla="*/ 894 w 6737822"/>
              <a:gd name="connsiteY0" fmla="*/ 0 h 4068349"/>
              <a:gd name="connsiteX1" fmla="*/ 6551880 w 6737822"/>
              <a:gd name="connsiteY1" fmla="*/ 9297 h 4068349"/>
              <a:gd name="connsiteX2" fmla="*/ 6737822 w 6737822"/>
              <a:gd name="connsiteY2" fmla="*/ 1103566 h 4068349"/>
              <a:gd name="connsiteX3" fmla="*/ 6625914 w 6737822"/>
              <a:gd name="connsiteY3" fmla="*/ 2044360 h 4068349"/>
              <a:gd name="connsiteX4" fmla="*/ 86960 w 6737822"/>
              <a:gd name="connsiteY4" fmla="*/ 3913345 h 4068349"/>
              <a:gd name="connsiteX5" fmla="*/ 893 w 6737822"/>
              <a:gd name="connsiteY5" fmla="*/ 4068349 h 4068349"/>
              <a:gd name="connsiteX6" fmla="*/ 894 w 6737822"/>
              <a:gd name="connsiteY6" fmla="*/ 0 h 4068349"/>
              <a:gd name="connsiteX0" fmla="*/ 894 w 6625914"/>
              <a:gd name="connsiteY0" fmla="*/ 0 h 4068349"/>
              <a:gd name="connsiteX1" fmla="*/ 6551880 w 6625914"/>
              <a:gd name="connsiteY1" fmla="*/ 9297 h 4068349"/>
              <a:gd name="connsiteX2" fmla="*/ 6625914 w 6625914"/>
              <a:gd name="connsiteY2" fmla="*/ 2044360 h 4068349"/>
              <a:gd name="connsiteX3" fmla="*/ 86960 w 6625914"/>
              <a:gd name="connsiteY3" fmla="*/ 3913345 h 4068349"/>
              <a:gd name="connsiteX4" fmla="*/ 893 w 6625914"/>
              <a:gd name="connsiteY4" fmla="*/ 4068349 h 4068349"/>
              <a:gd name="connsiteX5" fmla="*/ 894 w 6625914"/>
              <a:gd name="connsiteY5" fmla="*/ 0 h 4068349"/>
              <a:gd name="connsiteX0" fmla="*/ 894 w 6625914"/>
              <a:gd name="connsiteY0" fmla="*/ 0 h 4068349"/>
              <a:gd name="connsiteX1" fmla="*/ 6598367 w 6625914"/>
              <a:gd name="connsiteY1" fmla="*/ 9297 h 4068349"/>
              <a:gd name="connsiteX2" fmla="*/ 6625914 w 6625914"/>
              <a:gd name="connsiteY2" fmla="*/ 2044360 h 4068349"/>
              <a:gd name="connsiteX3" fmla="*/ 86960 w 6625914"/>
              <a:gd name="connsiteY3" fmla="*/ 3913345 h 4068349"/>
              <a:gd name="connsiteX4" fmla="*/ 893 w 6625914"/>
              <a:gd name="connsiteY4" fmla="*/ 4068349 h 4068349"/>
              <a:gd name="connsiteX5" fmla="*/ 894 w 6625914"/>
              <a:gd name="connsiteY5" fmla="*/ 0 h 4068349"/>
              <a:gd name="connsiteX0" fmla="*/ 894 w 6635557"/>
              <a:gd name="connsiteY0" fmla="*/ 0 h 4068349"/>
              <a:gd name="connsiteX1" fmla="*/ 6635557 w 6635557"/>
              <a:gd name="connsiteY1" fmla="*/ 9297 h 4068349"/>
              <a:gd name="connsiteX2" fmla="*/ 6625914 w 6635557"/>
              <a:gd name="connsiteY2" fmla="*/ 2044360 h 4068349"/>
              <a:gd name="connsiteX3" fmla="*/ 86960 w 6635557"/>
              <a:gd name="connsiteY3" fmla="*/ 3913345 h 4068349"/>
              <a:gd name="connsiteX4" fmla="*/ 893 w 6635557"/>
              <a:gd name="connsiteY4" fmla="*/ 4068349 h 4068349"/>
              <a:gd name="connsiteX5" fmla="*/ 894 w 6635557"/>
              <a:gd name="connsiteY5" fmla="*/ 0 h 4068349"/>
              <a:gd name="connsiteX0" fmla="*/ 894 w 6636181"/>
              <a:gd name="connsiteY0" fmla="*/ 0 h 4068349"/>
              <a:gd name="connsiteX1" fmla="*/ 6635557 w 6636181"/>
              <a:gd name="connsiteY1" fmla="*/ 9297 h 4068349"/>
              <a:gd name="connsiteX2" fmla="*/ 6635212 w 6636181"/>
              <a:gd name="connsiteY2" fmla="*/ 2044361 h 4068349"/>
              <a:gd name="connsiteX3" fmla="*/ 86960 w 6636181"/>
              <a:gd name="connsiteY3" fmla="*/ 3913345 h 4068349"/>
              <a:gd name="connsiteX4" fmla="*/ 893 w 6636181"/>
              <a:gd name="connsiteY4" fmla="*/ 4068349 h 4068349"/>
              <a:gd name="connsiteX5" fmla="*/ 894 w 6636181"/>
              <a:gd name="connsiteY5" fmla="*/ 0 h 4068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36181" h="4068349">
                <a:moveTo>
                  <a:pt x="894" y="0"/>
                </a:moveTo>
                <a:lnTo>
                  <a:pt x="6635557" y="9297"/>
                </a:lnTo>
                <a:cubicBezTo>
                  <a:pt x="6632343" y="687651"/>
                  <a:pt x="6638426" y="1366007"/>
                  <a:pt x="6635212" y="2044361"/>
                </a:cubicBezTo>
                <a:cubicBezTo>
                  <a:pt x="3415433" y="2283849"/>
                  <a:pt x="761420" y="3007411"/>
                  <a:pt x="86960" y="3913345"/>
                </a:cubicBezTo>
                <a:lnTo>
                  <a:pt x="893" y="4068349"/>
                </a:lnTo>
                <a:cubicBezTo>
                  <a:pt x="3992" y="2712233"/>
                  <a:pt x="-2205" y="1356116"/>
                  <a:pt x="8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0108" y="1261387"/>
            <a:ext cx="8089879" cy="248683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0108" y="4130518"/>
            <a:ext cx="8089879" cy="9428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-12698" y="5"/>
            <a:ext cx="6527799" cy="2039519"/>
          </a:xfrm>
          <a:custGeom>
            <a:avLst/>
            <a:gdLst>
              <a:gd name="connsiteX0" fmla="*/ 0 w 6504497"/>
              <a:gd name="connsiteY0" fmla="*/ 0 h 2032239"/>
              <a:gd name="connsiteX1" fmla="*/ 6504497 w 6504497"/>
              <a:gd name="connsiteY1" fmla="*/ 0 h 2032239"/>
              <a:gd name="connsiteX2" fmla="*/ 6504497 w 6504497"/>
              <a:gd name="connsiteY2" fmla="*/ 6484 h 2032239"/>
              <a:gd name="connsiteX3" fmla="*/ 6476264 w 6504497"/>
              <a:gd name="connsiteY3" fmla="*/ 8249 h 2032239"/>
              <a:gd name="connsiteX4" fmla="*/ 86067 w 6504497"/>
              <a:gd name="connsiteY4" fmla="*/ 1877235 h 2032239"/>
              <a:gd name="connsiteX5" fmla="*/ 0 w 6504497"/>
              <a:gd name="connsiteY5" fmla="*/ 2032239 h 2032239"/>
              <a:gd name="connsiteX6" fmla="*/ 0 w 6504497"/>
              <a:gd name="connsiteY6" fmla="*/ 0 h 2032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497" h="2032239">
                <a:moveTo>
                  <a:pt x="0" y="0"/>
                </a:moveTo>
                <a:lnTo>
                  <a:pt x="6504497" y="0"/>
                </a:lnTo>
                <a:lnTo>
                  <a:pt x="6504497" y="6484"/>
                </a:lnTo>
                <a:lnTo>
                  <a:pt x="6476264" y="8249"/>
                </a:lnTo>
                <a:cubicBezTo>
                  <a:pt x="3256485" y="247737"/>
                  <a:pt x="760527" y="971301"/>
                  <a:pt x="86067" y="1877235"/>
                </a:cubicBezTo>
                <a:lnTo>
                  <a:pt x="0" y="2032239"/>
                </a:lnTo>
                <a:lnTo>
                  <a:pt x="0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76191" y="597242"/>
            <a:ext cx="1305918" cy="181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3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193" r:id="rId2"/>
    <p:sldLayoutId id="2147484206" r:id="rId3"/>
  </p:sldLayoutIdLst>
  <p:txStyles>
    <p:titleStyle>
      <a:lvl1pPr algn="l" defTabSz="914390" rtl="0" eaLnBrk="1" latinLnBrk="0" hangingPunct="1">
        <a:lnSpc>
          <a:spcPct val="80000"/>
        </a:lnSpc>
        <a:spcBef>
          <a:spcPct val="0"/>
        </a:spcBef>
        <a:buNone/>
        <a:defRPr sz="880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90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tx2"/>
          </a:solidFill>
          <a:latin typeface="Cambria" charset="0"/>
          <a:ea typeface="Cambria" charset="0"/>
          <a:cs typeface="Cambria" charset="0"/>
        </a:defRPr>
      </a:lvl1pPr>
      <a:lvl2pPr marL="685793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8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4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2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3F2E07-4019-8344-849F-ACFB3A596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90701"/>
            <a:ext cx="9221907" cy="426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505F17E-5F7C-6F40-B444-12740BC4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F264657-4B2C-7A47-95A5-D327466D468F}"/>
              </a:ext>
            </a:extLst>
          </p:cNvPr>
          <p:cNvSpPr/>
          <p:nvPr userDrawn="1"/>
        </p:nvSpPr>
        <p:spPr>
          <a:xfrm>
            <a:off x="10078038" y="0"/>
            <a:ext cx="2124749" cy="6870664"/>
          </a:xfrm>
          <a:custGeom>
            <a:avLst/>
            <a:gdLst>
              <a:gd name="connsiteX0" fmla="*/ 2004484 w 2124749"/>
              <a:gd name="connsiteY0" fmla="*/ 0 h 6870664"/>
              <a:gd name="connsiteX1" fmla="*/ 2124749 w 2124749"/>
              <a:gd name="connsiteY1" fmla="*/ 0 h 6870664"/>
              <a:gd name="connsiteX2" fmla="*/ 2124749 w 2124749"/>
              <a:gd name="connsiteY2" fmla="*/ 6870664 h 6870664"/>
              <a:gd name="connsiteX3" fmla="*/ 0 w 2124749"/>
              <a:gd name="connsiteY3" fmla="*/ 6870664 h 6870664"/>
              <a:gd name="connsiteX4" fmla="*/ 155565 w 2124749"/>
              <a:gd name="connsiteY4" fmla="*/ 6774688 h 6870664"/>
              <a:gd name="connsiteX5" fmla="*/ 1980631 w 2124749"/>
              <a:gd name="connsiteY5" fmla="*/ 312225 h 6870664"/>
              <a:gd name="connsiteX6" fmla="*/ 2004484 w 2124749"/>
              <a:gd name="connsiteY6" fmla="*/ 0 h 687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4749" h="6870664">
                <a:moveTo>
                  <a:pt x="2004484" y="0"/>
                </a:moveTo>
                <a:lnTo>
                  <a:pt x="2124749" y="0"/>
                </a:lnTo>
                <a:lnTo>
                  <a:pt x="2124749" y="6870664"/>
                </a:lnTo>
                <a:lnTo>
                  <a:pt x="0" y="6870664"/>
                </a:lnTo>
                <a:lnTo>
                  <a:pt x="155565" y="6774688"/>
                </a:lnTo>
                <a:cubicBezTo>
                  <a:pt x="1007953" y="6069582"/>
                  <a:pt x="1699475" y="3579231"/>
                  <a:pt x="1980631" y="312225"/>
                </a:cubicBezTo>
                <a:lnTo>
                  <a:pt x="200448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67DEB9-63B0-044C-A3F4-44770C72DAB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083" y="6117551"/>
            <a:ext cx="1644235" cy="7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6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205" r:id="rId2"/>
    <p:sldLayoutId id="2147484207" r:id="rId3"/>
    <p:sldLayoutId id="2147484208" r:id="rId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9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rgbClr val="008998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182878" indent="-182878" algn="l" defTabSz="91439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3120" kern="1200" spc="11" baseline="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457195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731513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005830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280147" indent="-18287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2160" kern="1200">
          <a:solidFill>
            <a:schemeClr val="tx1">
              <a:lumMod val="50000"/>
              <a:lumOff val="50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1599984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82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78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76" indent="-228598" algn="l" defTabSz="91439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3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2BA96B6A-148E-3046-BEE0-D9CC1BD533D0}"/>
              </a:ext>
            </a:extLst>
          </p:cNvPr>
          <p:cNvSpPr/>
          <p:nvPr userDrawn="1"/>
        </p:nvSpPr>
        <p:spPr>
          <a:xfrm>
            <a:off x="512171" y="-1"/>
            <a:ext cx="9570645" cy="3392897"/>
          </a:xfrm>
          <a:custGeom>
            <a:avLst/>
            <a:gdLst>
              <a:gd name="connsiteX0" fmla="*/ 0 w 9570645"/>
              <a:gd name="connsiteY0" fmla="*/ 0 h 3392897"/>
              <a:gd name="connsiteX1" fmla="*/ 9570645 w 9570645"/>
              <a:gd name="connsiteY1" fmla="*/ 0 h 3392897"/>
              <a:gd name="connsiteX2" fmla="*/ 8706778 w 9570645"/>
              <a:gd name="connsiteY2" fmla="*/ 83074 h 3392897"/>
              <a:gd name="connsiteX3" fmla="*/ 127415 w 9570645"/>
              <a:gd name="connsiteY3" fmla="*/ 3132932 h 3392897"/>
              <a:gd name="connsiteX4" fmla="*/ 0 w 9570645"/>
              <a:gd name="connsiteY4" fmla="*/ 3392897 h 3392897"/>
              <a:gd name="connsiteX5" fmla="*/ 0 w 9570645"/>
              <a:gd name="connsiteY5" fmla="*/ 0 h 3392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0645" h="3392897">
                <a:moveTo>
                  <a:pt x="0" y="0"/>
                </a:moveTo>
                <a:lnTo>
                  <a:pt x="9570645" y="0"/>
                </a:lnTo>
                <a:lnTo>
                  <a:pt x="8706778" y="83074"/>
                </a:lnTo>
                <a:cubicBezTo>
                  <a:pt x="4369604" y="552913"/>
                  <a:pt x="1063492" y="1708511"/>
                  <a:pt x="127415" y="3132932"/>
                </a:cubicBezTo>
                <a:lnTo>
                  <a:pt x="0" y="339289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 userDrawn="1"/>
        </p:nvSpPr>
        <p:spPr>
          <a:xfrm rot="10800000">
            <a:off x="9" y="-1"/>
            <a:ext cx="2087936" cy="6878155"/>
          </a:xfrm>
          <a:custGeom>
            <a:avLst/>
            <a:gdLst>
              <a:gd name="connsiteX0" fmla="*/ 2132070 w 2228193"/>
              <a:gd name="connsiteY0" fmla="*/ 0 h 6845864"/>
              <a:gd name="connsiteX1" fmla="*/ 2228193 w 2228193"/>
              <a:gd name="connsiteY1" fmla="*/ 0 h 6845864"/>
              <a:gd name="connsiteX2" fmla="*/ 2228193 w 2228193"/>
              <a:gd name="connsiteY2" fmla="*/ 6845864 h 6845864"/>
              <a:gd name="connsiteX3" fmla="*/ 0 w 2228193"/>
              <a:gd name="connsiteY3" fmla="*/ 6845864 h 6845864"/>
              <a:gd name="connsiteX4" fmla="*/ 163139 w 2228193"/>
              <a:gd name="connsiteY4" fmla="*/ 6755280 h 6845864"/>
              <a:gd name="connsiteX5" fmla="*/ 2130212 w 2228193"/>
              <a:gd name="connsiteY5" fmla="*/ 29715 h 6845864"/>
              <a:gd name="connsiteX6" fmla="*/ 2132070 w 2228193"/>
              <a:gd name="connsiteY6" fmla="*/ 0 h 6845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193" h="6845864">
                <a:moveTo>
                  <a:pt x="2132070" y="0"/>
                </a:moveTo>
                <a:lnTo>
                  <a:pt x="2228193" y="0"/>
                </a:lnTo>
                <a:lnTo>
                  <a:pt x="2228193" y="6845864"/>
                </a:lnTo>
                <a:lnTo>
                  <a:pt x="0" y="6845864"/>
                </a:lnTo>
                <a:lnTo>
                  <a:pt x="163139" y="6755280"/>
                </a:lnTo>
                <a:cubicBezTo>
                  <a:pt x="1116618" y="6045423"/>
                  <a:pt x="1878156" y="3418473"/>
                  <a:pt x="2130212" y="29715"/>
                </a:cubicBezTo>
                <a:lnTo>
                  <a:pt x="2132070" y="0"/>
                </a:lnTo>
                <a:close/>
              </a:path>
            </a:pathLst>
          </a:custGeom>
          <a:solidFill>
            <a:srgbClr val="00467F"/>
          </a:soli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57552" y="2745344"/>
            <a:ext cx="9204435" cy="212735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3F5BF5-9188-DA40-AC0F-D6C1035299A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2365" y="402280"/>
            <a:ext cx="2470373" cy="111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0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202" r:id="rId2"/>
    <p:sldLayoutId id="2147484203" r:id="rId3"/>
  </p:sldLayoutIdLst>
  <p:txStyles>
    <p:titleStyle>
      <a:lvl1pPr algn="l" defTabSz="914390" rtl="0" eaLnBrk="1" latinLnBrk="0" hangingPunct="1">
        <a:lnSpc>
          <a:spcPct val="80000"/>
        </a:lnSpc>
        <a:spcBef>
          <a:spcPct val="0"/>
        </a:spcBef>
        <a:buNone/>
        <a:defRPr sz="8640" kern="1200">
          <a:solidFill>
            <a:srgbClr val="103D72"/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90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  <a:lvl2pPr marL="685793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8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4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0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5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2" indent="-228598" algn="l" defTabSz="91439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7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2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8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4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E0F8D81-A842-2B43-8DD8-F2F0BAAB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938" y="23446"/>
            <a:ext cx="8997125" cy="161076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78"/>
                </a:solidFill>
              </a:rPr>
              <a:t>Prioritizing </a:t>
            </a:r>
            <a:r>
              <a:rPr lang="en-US" b="1" dirty="0" smtClean="0">
                <a:solidFill>
                  <a:srgbClr val="007078"/>
                </a:solidFill>
              </a:rPr>
              <a:t>Groundfish </a:t>
            </a:r>
            <a:br>
              <a:rPr lang="en-US" b="1" dirty="0" smtClean="0">
                <a:solidFill>
                  <a:srgbClr val="007078"/>
                </a:solidFill>
              </a:rPr>
            </a:br>
            <a:r>
              <a:rPr lang="en-US" b="1" dirty="0" smtClean="0">
                <a:solidFill>
                  <a:srgbClr val="007078"/>
                </a:solidFill>
              </a:rPr>
              <a:t>Stock </a:t>
            </a:r>
            <a:r>
              <a:rPr lang="en-US" b="1" dirty="0">
                <a:solidFill>
                  <a:srgbClr val="007078"/>
                </a:solidFill>
              </a:rPr>
              <a:t>Assessments</a:t>
            </a:r>
          </a:p>
        </p:txBody>
      </p:sp>
      <p:sp>
        <p:nvSpPr>
          <p:cNvPr id="12" name="Subtitle 5">
            <a:extLst>
              <a:ext uri="{FF2B5EF4-FFF2-40B4-BE49-F238E27FC236}">
                <a16:creationId xmlns:a16="http://schemas.microsoft.com/office/drawing/2014/main" id="{94C3FFB9-3D85-D240-9889-30D000CFFE6F}"/>
              </a:ext>
            </a:extLst>
          </p:cNvPr>
          <p:cNvSpPr txBox="1">
            <a:spLocks/>
          </p:cNvSpPr>
          <p:nvPr/>
        </p:nvSpPr>
        <p:spPr>
          <a:xfrm>
            <a:off x="680214" y="2409825"/>
            <a:ext cx="1299672" cy="88367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 algn="l" defTabSz="91439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600" b="0" i="0" kern="1200">
                <a:solidFill>
                  <a:schemeClr val="tx2"/>
                </a:solidFill>
                <a:latin typeface="Cambria" charset="0"/>
                <a:ea typeface="Cambria" charset="0"/>
                <a:cs typeface="Cambria" charset="0"/>
              </a:defRPr>
            </a:lvl1pPr>
            <a:lvl2pPr marL="685793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8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84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75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0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5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2" indent="-228598" algn="l" defTabSz="91439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800" dirty="0" smtClean="0">
                <a:solidFill>
                  <a:schemeClr val="accent5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NWFSC</a:t>
            </a:r>
          </a:p>
          <a:p>
            <a:pPr algn="ctr">
              <a:spcBef>
                <a:spcPts val="0"/>
              </a:spcBef>
            </a:pPr>
            <a:r>
              <a:rPr lang="en-US" sz="1800" dirty="0" smtClean="0">
                <a:solidFill>
                  <a:schemeClr val="accent5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SWFSC </a:t>
            </a:r>
            <a:endParaRPr lang="en-US" sz="1800" dirty="0">
              <a:solidFill>
                <a:schemeClr val="accent5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AB004B-7146-D24B-9BB4-78CEBFA52CC3}"/>
              </a:ext>
            </a:extLst>
          </p:cNvPr>
          <p:cNvCxnSpPr>
            <a:cxnSpLocks/>
          </p:cNvCxnSpPr>
          <p:nvPr/>
        </p:nvCxnSpPr>
        <p:spPr>
          <a:xfrm>
            <a:off x="680214" y="2756478"/>
            <a:ext cx="1299672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687157" y="1879315"/>
            <a:ext cx="75546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Preliminary Analysis </a:t>
            </a:r>
            <a:r>
              <a:rPr lang="en-US" sz="3200" b="1" dirty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Ranking of </a:t>
            </a:r>
            <a:endParaRPr lang="en-US" sz="3200" b="1" dirty="0" smtClean="0">
              <a:solidFill>
                <a:srgbClr val="00467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3200" b="1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Pacific </a:t>
            </a:r>
            <a:r>
              <a:rPr lang="en-US" sz="3200" b="1" dirty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Coast Groundfish Species </a:t>
            </a:r>
          </a:p>
          <a:p>
            <a:pPr algn="ctr"/>
            <a:r>
              <a:rPr lang="en-US" sz="3200" b="1" dirty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Assessment in </a:t>
            </a:r>
            <a:r>
              <a:rPr lang="en-US" sz="3200" b="1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2023</a:t>
            </a:r>
          </a:p>
          <a:p>
            <a:pPr algn="ctr"/>
            <a:endParaRPr lang="en-US" sz="1400" b="1" dirty="0" smtClean="0">
              <a:solidFill>
                <a:srgbClr val="0070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600" dirty="0" smtClean="0">
                <a:solidFill>
                  <a:srgbClr val="0070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March </a:t>
            </a:r>
            <a:r>
              <a:rPr lang="en-US" sz="2600" dirty="0" smtClean="0">
                <a:solidFill>
                  <a:srgbClr val="0070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 </a:t>
            </a:r>
            <a:r>
              <a:rPr lang="en-US" sz="2600" dirty="0" smtClean="0">
                <a:solidFill>
                  <a:srgbClr val="0070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to the </a:t>
            </a:r>
          </a:p>
          <a:p>
            <a:pPr algn="ctr"/>
            <a:r>
              <a:rPr lang="en-US" sz="2600" dirty="0" smtClean="0">
                <a:solidFill>
                  <a:srgbClr val="00707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Pacific Fishery Management Council</a:t>
            </a:r>
            <a:endParaRPr lang="en-US" sz="2600" dirty="0">
              <a:solidFill>
                <a:srgbClr val="00707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04870" y="5252075"/>
            <a:ext cx="7119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Dr. Jim 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Hastie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Dr. Chantel 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Wetzel</a:t>
            </a:r>
            <a:endParaRPr lang="en-US" sz="2400" baseline="60000" dirty="0" smtClean="0">
              <a:solidFill>
                <a:srgbClr val="00467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64760" y="5935305"/>
            <a:ext cx="9199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Northwest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Fisheries Science </a:t>
            </a:r>
            <a:r>
              <a:rPr lang="en-US" sz="2400" dirty="0" smtClean="0">
                <a:solidFill>
                  <a:srgbClr val="0046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Center</a:t>
            </a:r>
            <a:endParaRPr lang="en-US" sz="2400" dirty="0">
              <a:solidFill>
                <a:srgbClr val="00467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998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Assessment Prioritization Material Overview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7401" y="1507896"/>
            <a:ext cx="11343190" cy="4512281"/>
          </a:xfrm>
        </p:spPr>
        <p:txBody>
          <a:bodyPr/>
          <a:lstStyle/>
          <a:p>
            <a:r>
              <a:rPr lang="en-US" dirty="0" smtClean="0"/>
              <a:t>E.8 Attachment 1: Description of the assessment prioritization methodology</a:t>
            </a:r>
          </a:p>
          <a:p>
            <a:endParaRPr lang="en-US" dirty="0" smtClean="0"/>
          </a:p>
          <a:p>
            <a:r>
              <a:rPr lang="en-US" dirty="0" smtClean="0"/>
              <a:t>E.8 Attachment 2: Detailed summary of available data to support stock assessments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E.8 Attachment 3: NMFS assessment prioritization workbook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750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Assessment Prioritization Material Overview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7401" y="1507896"/>
            <a:ext cx="11343190" cy="4512281"/>
          </a:xfrm>
        </p:spPr>
        <p:txBody>
          <a:bodyPr/>
          <a:lstStyle/>
          <a:p>
            <a:r>
              <a:rPr lang="en-US" dirty="0" smtClean="0"/>
              <a:t>E.8 Attachment 1: Description of the assessment prioritization methodology</a:t>
            </a:r>
          </a:p>
          <a:p>
            <a:endParaRPr lang="en-US" dirty="0" smtClean="0"/>
          </a:p>
          <a:p>
            <a:r>
              <a:rPr lang="en-US" dirty="0" smtClean="0"/>
              <a:t>E.8 Attachment 2: Detailed summary of available data to support stock assessments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E.8 Attachment 3: NMFS assessment prioritization workbook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17401" y="4581425"/>
            <a:ext cx="11134129" cy="119720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49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Outline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7401" y="1507896"/>
            <a:ext cx="11343190" cy="4657234"/>
          </a:xfrm>
        </p:spPr>
        <p:txBody>
          <a:bodyPr>
            <a:normAutofit/>
          </a:bodyPr>
          <a:lstStyle/>
          <a:p>
            <a:r>
              <a:rPr lang="en-US" dirty="0" smtClean="0"/>
              <a:t>Goal: </a:t>
            </a:r>
            <a:r>
              <a:rPr lang="en-US" dirty="0" smtClean="0">
                <a:solidFill>
                  <a:srgbClr val="007078"/>
                </a:solidFill>
              </a:rPr>
              <a:t>Identify </a:t>
            </a:r>
            <a:r>
              <a:rPr lang="en-US" dirty="0">
                <a:solidFill>
                  <a:srgbClr val="007078"/>
                </a:solidFill>
              </a:rPr>
              <a:t>stocks </a:t>
            </a:r>
            <a:r>
              <a:rPr lang="en-US" dirty="0" smtClean="0">
                <a:solidFill>
                  <a:srgbClr val="007078"/>
                </a:solidFill>
              </a:rPr>
              <a:t>to be assessed in 2023 as benchmark (full), update, and data-moderate assessments</a:t>
            </a:r>
          </a:p>
          <a:p>
            <a:endParaRPr lang="en-US" dirty="0">
              <a:solidFill>
                <a:srgbClr val="007078"/>
              </a:solidFill>
            </a:endParaRPr>
          </a:p>
          <a:p>
            <a:pPr>
              <a:spcAft>
                <a:spcPts val="400"/>
              </a:spcAft>
            </a:pPr>
            <a:r>
              <a:rPr lang="en-US" dirty="0"/>
              <a:t>Review the prioritization workbook </a:t>
            </a:r>
            <a:r>
              <a:rPr lang="en-US" dirty="0" smtClean="0"/>
              <a:t>(Attachment 3)</a:t>
            </a:r>
          </a:p>
          <a:p>
            <a:pPr>
              <a:spcAft>
                <a:spcPts val="400"/>
              </a:spcAft>
            </a:pPr>
            <a:r>
              <a:rPr lang="en-US" dirty="0" smtClean="0"/>
              <a:t>Review </a:t>
            </a:r>
            <a:r>
              <a:rPr lang="en-US" dirty="0"/>
              <a:t>the preliminary species ranks for </a:t>
            </a:r>
            <a:r>
              <a:rPr lang="en-US" dirty="0" smtClean="0"/>
              <a:t>2023</a:t>
            </a:r>
            <a:endParaRPr lang="en-US" dirty="0"/>
          </a:p>
          <a:p>
            <a:pPr lvl="1">
              <a:spcAft>
                <a:spcPts val="400"/>
              </a:spcAft>
            </a:pPr>
            <a:r>
              <a:rPr lang="en-US" sz="3000" dirty="0">
                <a:solidFill>
                  <a:srgbClr val="008998"/>
                </a:solidFill>
              </a:rPr>
              <a:t>Discuss available data and workload</a:t>
            </a:r>
            <a:endParaRPr lang="en-US" sz="1000" dirty="0">
              <a:solidFill>
                <a:srgbClr val="008998"/>
              </a:solidFill>
            </a:endParaRPr>
          </a:p>
          <a:p>
            <a:pPr>
              <a:spcAft>
                <a:spcPts val="400"/>
              </a:spcAft>
            </a:pPr>
            <a:r>
              <a:rPr lang="en-US" dirty="0"/>
              <a:t>Review the calendar for possible </a:t>
            </a:r>
            <a:r>
              <a:rPr lang="en-US" dirty="0" smtClean="0"/>
              <a:t>2023 </a:t>
            </a:r>
            <a:r>
              <a:rPr lang="en-US" dirty="0"/>
              <a:t>STAR </a:t>
            </a:r>
            <a:r>
              <a:rPr lang="en-US" dirty="0" smtClean="0"/>
              <a:t>Panels</a:t>
            </a:r>
            <a:endParaRPr lang="en-US" dirty="0"/>
          </a:p>
          <a:p>
            <a:pPr>
              <a:spcAft>
                <a:spcPts val="400"/>
              </a:spcAft>
            </a:pPr>
            <a:r>
              <a:rPr lang="en-US" dirty="0"/>
              <a:t>Discuss </a:t>
            </a:r>
            <a:r>
              <a:rPr lang="en-US" dirty="0" smtClean="0"/>
              <a:t>Attachment 1 and 2, </a:t>
            </a:r>
            <a:r>
              <a:rPr lang="en-US" dirty="0"/>
              <a:t>if the Council </a:t>
            </a:r>
            <a:r>
              <a:rPr lang="en-US" dirty="0" smtClean="0"/>
              <a:t>desires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13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/>
          <p:cNvSpPr txBox="1">
            <a:spLocks/>
          </p:cNvSpPr>
          <p:nvPr/>
        </p:nvSpPr>
        <p:spPr>
          <a:xfrm>
            <a:off x="633423" y="5508"/>
            <a:ext cx="1106593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rgbClr val="00707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2023 Prioritization Ranking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13" y="977264"/>
            <a:ext cx="11079997" cy="57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41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/>
          <p:cNvSpPr txBox="1">
            <a:spLocks/>
          </p:cNvSpPr>
          <p:nvPr/>
        </p:nvSpPr>
        <p:spPr>
          <a:xfrm>
            <a:off x="451413" y="-118317"/>
            <a:ext cx="1134319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rgbClr val="00707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Factor Summary</a:t>
            </a:r>
            <a:endParaRPr lang="en-US" b="1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55" y="811445"/>
            <a:ext cx="11201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50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0"/>
            <a:ext cx="10515600" cy="1555637"/>
          </a:xfrm>
        </p:spPr>
        <p:txBody>
          <a:bodyPr>
            <a:normAutofit/>
          </a:bodyPr>
          <a:lstStyle/>
          <a:p>
            <a:r>
              <a:rPr lang="en-US" sz="4000" b="1" dirty="0"/>
              <a:t>Fishery Importance – 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Commercial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235" y="1555638"/>
            <a:ext cx="5013932" cy="441690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" dirty="0" smtClean="0"/>
          </a:p>
          <a:p>
            <a:pPr>
              <a:spcAft>
                <a:spcPts val="900"/>
              </a:spcAft>
            </a:pPr>
            <a:r>
              <a:rPr lang="en-US" sz="2400" dirty="0" smtClean="0"/>
              <a:t>Average 2016-20 </a:t>
            </a:r>
            <a:r>
              <a:rPr lang="en-US" sz="2400" dirty="0" err="1" smtClean="0"/>
              <a:t>coastwide</a:t>
            </a:r>
            <a:r>
              <a:rPr lang="en-US" sz="2400" dirty="0" smtClean="0"/>
              <a:t> </a:t>
            </a:r>
            <a:r>
              <a:rPr lang="en-US" sz="2400" dirty="0" smtClean="0"/>
              <a:t>ex-vessel revenue </a:t>
            </a:r>
            <a:r>
              <a:rPr lang="en-US" sz="2400" dirty="0" smtClean="0"/>
              <a:t>transformed to compress the distribution (same transformation used in 2018)</a:t>
            </a:r>
          </a:p>
          <a:p>
            <a:pPr>
              <a:spcAft>
                <a:spcPts val="900"/>
              </a:spcAft>
            </a:pPr>
            <a:r>
              <a:rPr lang="en-US" sz="2400" dirty="0" smtClean="0"/>
              <a:t>Then re-scaled so the top score is 10</a:t>
            </a:r>
          </a:p>
          <a:p>
            <a:pPr>
              <a:spcAft>
                <a:spcPts val="900"/>
              </a:spcAft>
            </a:pPr>
            <a:r>
              <a:rPr lang="en-US" sz="2400" dirty="0" smtClean="0"/>
              <a:t>Does </a:t>
            </a:r>
            <a:r>
              <a:rPr lang="en-US" sz="2400" dirty="0" smtClean="0"/>
              <a:t>not include fish sold by participants in Tribal fisheries</a:t>
            </a:r>
          </a:p>
          <a:p>
            <a:pPr>
              <a:spcAft>
                <a:spcPts val="600"/>
              </a:spcAft>
            </a:pP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2400" u="sng" dirty="0" smtClean="0">
                <a:latin typeface="Calibri" panose="020F0502020204030204" pitchFamily="34" charset="0"/>
              </a:rPr>
              <a:t>Point Range</a:t>
            </a:r>
            <a:r>
              <a:rPr lang="en-US" sz="2400" dirty="0" smtClean="0">
                <a:latin typeface="Calibri" panose="020F0502020204030204" pitchFamily="34" charset="0"/>
              </a:rPr>
              <a:t>: </a:t>
            </a:r>
            <a:r>
              <a:rPr lang="en-US" sz="2400" b="1" dirty="0" smtClean="0">
                <a:latin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</a:rPr>
              <a:t>0</a:t>
            </a:r>
            <a:r>
              <a:rPr lang="en-US" sz="2400" dirty="0"/>
              <a:t>–</a:t>
            </a:r>
            <a:r>
              <a:rPr lang="en-US" sz="2400" dirty="0" smtClean="0">
                <a:latin typeface="Calibri" panose="020F0502020204030204" pitchFamily="34" charset="0"/>
              </a:rPr>
              <a:t>10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166" y="585578"/>
            <a:ext cx="6520014" cy="570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83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8" y="29326"/>
            <a:ext cx="10558177" cy="1083858"/>
          </a:xfrm>
        </p:spPr>
        <p:txBody>
          <a:bodyPr>
            <a:normAutofit/>
          </a:bodyPr>
          <a:lstStyle/>
          <a:p>
            <a:r>
              <a:rPr lang="en-US" sz="4000" b="1" dirty="0"/>
              <a:t>Fishery Importance </a:t>
            </a:r>
            <a:r>
              <a:rPr lang="en-US" sz="4000" b="1" dirty="0" smtClean="0"/>
              <a:t>–  Recreational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8" y="985962"/>
            <a:ext cx="5160206" cy="5477319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 </a:t>
            </a:r>
            <a:endParaRPr lang="en-US" sz="200" dirty="0" smtClean="0"/>
          </a:p>
          <a:p>
            <a:pPr>
              <a:spcAft>
                <a:spcPts val="300"/>
              </a:spcAft>
            </a:pPr>
            <a:r>
              <a:rPr lang="en-US" sz="2400" dirty="0" smtClean="0"/>
              <a:t>Pseudo-Revenue </a:t>
            </a:r>
            <a:r>
              <a:rPr lang="en-US" sz="2400" dirty="0" smtClean="0"/>
              <a:t>is equal to landings by state multiplied by a state specific importance weight that </a:t>
            </a:r>
            <a:r>
              <a:rPr lang="en-US" sz="2400" dirty="0" smtClean="0"/>
              <a:t>range between 0.50 – 2.0. </a:t>
            </a:r>
          </a:p>
          <a:p>
            <a:pPr>
              <a:spcAft>
                <a:spcPts val="300"/>
              </a:spcAft>
            </a:pPr>
            <a:endParaRPr lang="en-US" sz="2400" dirty="0"/>
          </a:p>
          <a:p>
            <a:pPr>
              <a:spcAft>
                <a:spcPts val="900"/>
              </a:spcAft>
            </a:pPr>
            <a:r>
              <a:rPr lang="en-US" sz="2400" dirty="0" smtClean="0"/>
              <a:t>Factor score is transformed </a:t>
            </a:r>
            <a:r>
              <a:rPr lang="en-US" sz="2400" dirty="0"/>
              <a:t>to compress the distribution t</a:t>
            </a:r>
            <a:r>
              <a:rPr lang="en-US" sz="2400" dirty="0" smtClean="0"/>
              <a:t>hen </a:t>
            </a:r>
            <a:r>
              <a:rPr lang="en-US" sz="2400" dirty="0"/>
              <a:t>re-scaled so the top score is </a:t>
            </a:r>
            <a:r>
              <a:rPr lang="en-US" sz="2400" dirty="0" smtClean="0"/>
              <a:t>10.</a:t>
            </a:r>
            <a:endParaRPr lang="en-US" sz="2400" dirty="0"/>
          </a:p>
          <a:p>
            <a:pPr marL="0" indent="0">
              <a:spcAft>
                <a:spcPts val="300"/>
              </a:spcAft>
              <a:buNone/>
            </a:pPr>
            <a:endParaRPr lang="en-US" sz="23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2400" u="sng" dirty="0" smtClean="0">
                <a:latin typeface="Calibri" panose="020F0502020204030204" pitchFamily="34" charset="0"/>
              </a:rPr>
              <a:t>Point </a:t>
            </a:r>
            <a:r>
              <a:rPr lang="en-US" sz="2400" u="sng" dirty="0" smtClean="0">
                <a:latin typeface="Calibri" panose="020F0502020204030204" pitchFamily="34" charset="0"/>
              </a:rPr>
              <a:t>Range</a:t>
            </a:r>
            <a:r>
              <a:rPr lang="en-US" sz="2400" dirty="0" smtClean="0">
                <a:latin typeface="Calibri" panose="020F0502020204030204" pitchFamily="34" charset="0"/>
              </a:rPr>
              <a:t>: </a:t>
            </a:r>
            <a:r>
              <a:rPr lang="en-US" sz="2400" b="1" dirty="0" smtClean="0">
                <a:latin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</a:rPr>
              <a:t>0</a:t>
            </a:r>
            <a:r>
              <a:rPr lang="en-US" sz="2400" dirty="0"/>
              <a:t>–</a:t>
            </a:r>
            <a:r>
              <a:rPr lang="en-US" sz="2400" dirty="0" smtClean="0">
                <a:latin typeface="Calibri" panose="020F0502020204030204" pitchFamily="34" charset="0"/>
              </a:rPr>
              <a:t>10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746" y="985962"/>
            <a:ext cx="6437968" cy="520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39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5"/>
            <a:ext cx="10515600" cy="1522841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Tribal </a:t>
            </a:r>
            <a:r>
              <a:rPr lang="en-US" sz="4000" b="1" dirty="0"/>
              <a:t>Importance – </a:t>
            </a:r>
            <a:br>
              <a:rPr lang="en-US" sz="4000" b="1" dirty="0"/>
            </a:br>
            <a:r>
              <a:rPr lang="en-US" sz="4000" b="1" dirty="0" smtClean="0"/>
              <a:t>Subsistence &amp; Fish Sales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7" y="1552166"/>
            <a:ext cx="5298029" cy="496412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" dirty="0" smtClean="0"/>
          </a:p>
          <a:p>
            <a:pPr>
              <a:spcAft>
                <a:spcPts val="200"/>
              </a:spcAft>
            </a:pPr>
            <a:r>
              <a:rPr lang="en-US" sz="2400" dirty="0" smtClean="0">
                <a:latin typeface="Calibri" panose="020F0502020204030204" pitchFamily="34" charset="0"/>
              </a:rPr>
              <a:t>Revenue from sales is scored in the same manner as </a:t>
            </a:r>
            <a:r>
              <a:rPr lang="en-US" sz="2400" dirty="0">
                <a:latin typeface="Calibri" panose="020F0502020204030204" pitchFamily="34" charset="0"/>
              </a:rPr>
              <a:t>non-Tribal </a:t>
            </a:r>
            <a:r>
              <a:rPr lang="en-US" sz="2400" dirty="0" smtClean="0">
                <a:latin typeface="Calibri" panose="020F0502020204030204" pitchFamily="34" charset="0"/>
              </a:rPr>
              <a:t>commercial</a:t>
            </a:r>
            <a:r>
              <a:rPr lang="en-US" sz="2400" dirty="0">
                <a:latin typeface="Calibri" panose="020F0502020204030204" pitchFamily="34" charset="0"/>
              </a:rPr>
              <a:t>, but </a:t>
            </a:r>
            <a:r>
              <a:rPr lang="en-US" sz="2400" dirty="0" smtClean="0">
                <a:latin typeface="Calibri" panose="020F0502020204030204" pitchFamily="34" charset="0"/>
              </a:rPr>
              <a:t>with a maximum of 7</a:t>
            </a:r>
          </a:p>
          <a:p>
            <a:pPr>
              <a:spcAft>
                <a:spcPts val="200"/>
              </a:spcAft>
            </a:pPr>
            <a:endParaRPr lang="en-US" sz="1000" dirty="0">
              <a:latin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2400" dirty="0" smtClean="0">
                <a:latin typeface="Calibri" panose="020F0502020204030204" pitchFamily="34" charset="0"/>
              </a:rPr>
              <a:t>Subsistence value is </a:t>
            </a:r>
            <a:r>
              <a:rPr lang="en-US" sz="2400" dirty="0">
                <a:latin typeface="Calibri" panose="020F0502020204030204" pitchFamily="34" charset="0"/>
              </a:rPr>
              <a:t>scored </a:t>
            </a:r>
            <a:r>
              <a:rPr lang="en-US" sz="2400" dirty="0" smtClean="0">
                <a:latin typeface="Calibri" panose="020F0502020204030204" pitchFamily="34" charset="0"/>
              </a:rPr>
              <a:t>on a </a:t>
            </a:r>
            <a:r>
              <a:rPr lang="en-US" sz="2400" dirty="0" smtClean="0">
                <a:latin typeface="Calibri" panose="020F0502020204030204" pitchFamily="34" charset="0"/>
              </a:rPr>
              <a:t>0.0-3.0 </a:t>
            </a:r>
            <a:r>
              <a:rPr lang="en-US" sz="2400" dirty="0" smtClean="0">
                <a:latin typeface="Calibri" panose="020F0502020204030204" pitchFamily="34" charset="0"/>
              </a:rPr>
              <a:t>scale, based on input/responses from Tribal representatives</a:t>
            </a:r>
          </a:p>
          <a:p>
            <a:pPr marL="0" indent="0">
              <a:spcAft>
                <a:spcPts val="200"/>
              </a:spcAft>
              <a:buNone/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u="sng" dirty="0" smtClean="0">
                <a:latin typeface="Calibri" panose="020F0502020204030204" pitchFamily="34" charset="0"/>
              </a:rPr>
              <a:t>Point Range</a:t>
            </a:r>
            <a:r>
              <a:rPr lang="en-US" sz="2400" b="1" dirty="0" smtClean="0">
                <a:latin typeface="Calibri" panose="020F0502020204030204" pitchFamily="34" charset="0"/>
              </a:rPr>
              <a:t>:  </a:t>
            </a:r>
            <a:r>
              <a:rPr lang="en-US" sz="2400" dirty="0" smtClean="0">
                <a:latin typeface="Calibri" panose="020F0502020204030204" pitchFamily="34" charset="0"/>
              </a:rPr>
              <a:t>0</a:t>
            </a:r>
            <a:r>
              <a:rPr lang="en-US" sz="2400" dirty="0"/>
              <a:t>–</a:t>
            </a:r>
            <a:r>
              <a:rPr lang="en-US" sz="2400" dirty="0" smtClean="0">
                <a:latin typeface="Calibri" panose="020F0502020204030204" pitchFamily="34" charset="0"/>
              </a:rPr>
              <a:t>10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012" y="790745"/>
            <a:ext cx="6175452" cy="547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14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5"/>
            <a:ext cx="10515600" cy="1522841"/>
          </a:xfrm>
        </p:spPr>
        <p:txBody>
          <a:bodyPr>
            <a:normAutofit/>
          </a:bodyPr>
          <a:lstStyle/>
          <a:p>
            <a:r>
              <a:rPr lang="en-US" sz="4000" b="1" dirty="0"/>
              <a:t>Choke Species </a:t>
            </a:r>
            <a:r>
              <a:rPr lang="en-US" sz="4000" b="1" dirty="0" smtClean="0"/>
              <a:t>and </a:t>
            </a:r>
            <a:br>
              <a:rPr lang="en-US" sz="4000" b="1" dirty="0" smtClean="0"/>
            </a:br>
            <a:r>
              <a:rPr lang="en-US" sz="4000" b="1" dirty="0" smtClean="0"/>
              <a:t>Constituent </a:t>
            </a:r>
            <a:r>
              <a:rPr lang="en-US" sz="4000" b="1" dirty="0"/>
              <a:t>Demand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9" y="1367625"/>
            <a:ext cx="4754690" cy="5061204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" dirty="0" smtClean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2400" dirty="0"/>
              <a:t>Stocks that </a:t>
            </a:r>
            <a:r>
              <a:rPr lang="en-US" sz="2400" dirty="0" smtClean="0"/>
              <a:t>could constrain </a:t>
            </a:r>
            <a:r>
              <a:rPr lang="en-US" sz="2400" dirty="0"/>
              <a:t>the catch of other </a:t>
            </a:r>
            <a:r>
              <a:rPr lang="en-US" sz="2400" dirty="0" smtClean="0"/>
              <a:t>healthy </a:t>
            </a:r>
            <a:r>
              <a:rPr lang="en-US" sz="2400" dirty="0"/>
              <a:t>stocks, esp. rebuilding </a:t>
            </a:r>
            <a:r>
              <a:rPr lang="en-US" sz="2400" dirty="0" smtClean="0"/>
              <a:t>stocks. Informed by recent catches relative to 2024 ACLs.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2400" dirty="0" smtClean="0"/>
              <a:t>Modifiers </a:t>
            </a:r>
            <a:r>
              <a:rPr lang="en-US" sz="2400" dirty="0" smtClean="0"/>
              <a:t>measure </a:t>
            </a:r>
            <a:r>
              <a:rPr lang="en-US" sz="2400" dirty="0"/>
              <a:t>s</a:t>
            </a:r>
            <a:r>
              <a:rPr lang="en-US" sz="2400" dirty="0" smtClean="0"/>
              <a:t>pecies </a:t>
            </a:r>
            <a:r>
              <a:rPr lang="en-US" sz="2400" dirty="0"/>
              <a:t>that are </a:t>
            </a:r>
            <a:r>
              <a:rPr lang="en-US" sz="2400" dirty="0" smtClean="0"/>
              <a:t>much more </a:t>
            </a:r>
            <a:r>
              <a:rPr lang="en-US" sz="2400" dirty="0"/>
              <a:t>important to a </a:t>
            </a:r>
            <a:r>
              <a:rPr lang="en-US" sz="2400" dirty="0" smtClean="0"/>
              <a:t>specific </a:t>
            </a:r>
            <a:r>
              <a:rPr lang="en-US" sz="2400" dirty="0"/>
              <a:t>fleet or </a:t>
            </a:r>
            <a:r>
              <a:rPr lang="en-US" sz="2400" dirty="0" smtClean="0"/>
              <a:t>state </a:t>
            </a:r>
            <a:r>
              <a:rPr lang="en-US" sz="2400" dirty="0"/>
              <a:t>than </a:t>
            </a:r>
            <a:r>
              <a:rPr lang="en-US" sz="2400" dirty="0" smtClean="0"/>
              <a:t>is reflected </a:t>
            </a:r>
            <a:r>
              <a:rPr lang="en-US" sz="2400" dirty="0"/>
              <a:t>in </a:t>
            </a:r>
            <a:r>
              <a:rPr lang="en-US" sz="2400" dirty="0" smtClean="0"/>
              <a:t>the </a:t>
            </a:r>
            <a:r>
              <a:rPr lang="en-US" sz="2400" dirty="0" err="1"/>
              <a:t>coastwide</a:t>
            </a:r>
            <a:r>
              <a:rPr lang="en-US" sz="2400" dirty="0"/>
              <a:t> </a:t>
            </a:r>
            <a:r>
              <a:rPr lang="en-US" sz="2400" dirty="0" smtClean="0"/>
              <a:t>comm./rec. </a:t>
            </a:r>
            <a:r>
              <a:rPr lang="en-US" sz="2400" dirty="0" smtClean="0"/>
              <a:t>ranks</a:t>
            </a:r>
          </a:p>
          <a:p>
            <a:pPr>
              <a:spcAft>
                <a:spcPts val="1200"/>
              </a:spcAft>
            </a:pPr>
            <a:r>
              <a:rPr lang="en-US" sz="2400" u="sng" dirty="0" smtClean="0">
                <a:latin typeface="Calibri" panose="020F0502020204030204" pitchFamily="34" charset="0"/>
              </a:rPr>
              <a:t>Point Range</a:t>
            </a:r>
            <a:r>
              <a:rPr lang="en-US" sz="2400" dirty="0" smtClean="0">
                <a:latin typeface="Calibri" panose="020F0502020204030204" pitchFamily="34" charset="0"/>
              </a:rPr>
              <a:t>:</a:t>
            </a:r>
            <a:r>
              <a:rPr lang="en-US" sz="2400" b="1" dirty="0" smtClean="0">
                <a:latin typeface="Calibri" panose="020F0502020204030204" pitchFamily="34" charset="0"/>
              </a:rPr>
              <a:t>  </a:t>
            </a:r>
            <a:r>
              <a:rPr lang="en-US" sz="2400" dirty="0" smtClean="0">
                <a:latin typeface="Calibri" panose="020F0502020204030204" pitchFamily="34" charset="0"/>
              </a:rPr>
              <a:t>(-2)</a:t>
            </a:r>
            <a:r>
              <a:rPr lang="en-US" sz="2400" dirty="0" smtClean="0"/>
              <a:t>–</a:t>
            </a:r>
            <a:r>
              <a:rPr lang="en-US" sz="2400" dirty="0" smtClean="0">
                <a:latin typeface="Calibri" panose="020F0502020204030204" pitchFamily="34" charset="0"/>
              </a:rPr>
              <a:t>10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848" y="790745"/>
            <a:ext cx="6779623" cy="550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25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5"/>
            <a:ext cx="10515600" cy="1522841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Rebuilding Stocks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8" y="2971800"/>
            <a:ext cx="11401979" cy="2975776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" dirty="0" smtClean="0"/>
          </a:p>
          <a:p>
            <a:pPr>
              <a:spcAft>
                <a:spcPts val="1200"/>
              </a:spcAft>
            </a:pPr>
            <a:r>
              <a:rPr lang="en-US" sz="2400" dirty="0" smtClean="0">
                <a:latin typeface="Calibri" panose="020F0502020204030204" pitchFamily="34" charset="0"/>
              </a:rPr>
              <a:t>Accounts for the current rebuilding progress for overfished stocks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 smtClean="0">
                <a:latin typeface="Calibri" panose="020F0502020204030204" pitchFamily="34" charset="0"/>
              </a:rPr>
              <a:t>Included quillback rockfish under the assumption the stock would be declared overfished by NMFS, however, the timeline is currently uncertain.</a:t>
            </a:r>
          </a:p>
          <a:p>
            <a:pPr>
              <a:spcAft>
                <a:spcPts val="1200"/>
              </a:spcAft>
            </a:pPr>
            <a:endParaRPr lang="en-US" sz="2400" dirty="0" smtClean="0"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u="sng" dirty="0" smtClean="0">
                <a:latin typeface="Calibri" panose="020F0502020204030204" pitchFamily="34" charset="0"/>
              </a:rPr>
              <a:t>Point </a:t>
            </a:r>
            <a:r>
              <a:rPr lang="en-US" sz="2400" u="sng" dirty="0" smtClean="0">
                <a:latin typeface="Calibri" panose="020F0502020204030204" pitchFamily="34" charset="0"/>
              </a:rPr>
              <a:t>Range</a:t>
            </a:r>
            <a:r>
              <a:rPr lang="en-US" sz="2400" dirty="0" smtClean="0">
                <a:latin typeface="Calibri" panose="020F0502020204030204" pitchFamily="34" charset="0"/>
              </a:rPr>
              <a:t>:</a:t>
            </a:r>
            <a:r>
              <a:rPr lang="en-US" sz="2400" b="1" dirty="0" smtClean="0">
                <a:latin typeface="Calibri" panose="020F0502020204030204" pitchFamily="34" charset="0"/>
              </a:rPr>
              <a:t>  </a:t>
            </a:r>
            <a:r>
              <a:rPr lang="en-US" sz="2400" dirty="0">
                <a:latin typeface="Calibri" panose="020F0502020204030204" pitchFamily="34" charset="0"/>
              </a:rPr>
              <a:t>0</a:t>
            </a:r>
            <a:r>
              <a:rPr lang="en-US" sz="2400" dirty="0" smtClean="0"/>
              <a:t>–</a:t>
            </a:r>
            <a:r>
              <a:rPr lang="en-US" sz="2400" dirty="0" smtClean="0">
                <a:latin typeface="Calibri" panose="020F0502020204030204" pitchFamily="34" charset="0"/>
              </a:rPr>
              <a:t>10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205" y="1163045"/>
            <a:ext cx="9337896" cy="161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09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29326"/>
            <a:ext cx="10515600" cy="1136866"/>
          </a:xfrm>
        </p:spPr>
        <p:txBody>
          <a:bodyPr>
            <a:normAutofit/>
          </a:bodyPr>
          <a:lstStyle/>
          <a:p>
            <a:r>
              <a:rPr lang="en-US" sz="4000" b="1" dirty="0"/>
              <a:t>Stock </a:t>
            </a:r>
            <a:r>
              <a:rPr lang="en-US" sz="4000" b="1" dirty="0" smtClean="0"/>
              <a:t>Status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706" y="927652"/>
            <a:ext cx="6503498" cy="5588638"/>
          </a:xfrm>
        </p:spPr>
        <p:txBody>
          <a:bodyPr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	</a:t>
            </a:r>
            <a:r>
              <a:rPr lang="en-US" sz="2200" dirty="0">
                <a:latin typeface="Calibri" panose="020F0502020204030204" pitchFamily="34" charset="0"/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" dirty="0" smtClean="0"/>
          </a:p>
          <a:p>
            <a:pPr>
              <a:spcAft>
                <a:spcPts val="300"/>
              </a:spcAft>
            </a:pPr>
            <a:r>
              <a:rPr lang="en-US" sz="2300" dirty="0" smtClean="0"/>
              <a:t>Scoring based </a:t>
            </a:r>
            <a:r>
              <a:rPr lang="en-US" sz="2300" dirty="0"/>
              <a:t>on </a:t>
            </a:r>
            <a:r>
              <a:rPr lang="en-US" sz="2300" dirty="0" smtClean="0"/>
              <a:t>estimated percent of unfished spawning biomass/output.</a:t>
            </a:r>
            <a:endParaRPr lang="en-US" sz="2300" dirty="0"/>
          </a:p>
          <a:p>
            <a:pPr>
              <a:spcAft>
                <a:spcPts val="600"/>
              </a:spcAft>
            </a:pPr>
            <a:r>
              <a:rPr lang="en-US" sz="2300" dirty="0"/>
              <a:t> </a:t>
            </a:r>
            <a:r>
              <a:rPr lang="en-US" sz="2300" dirty="0" smtClean="0"/>
              <a:t>PSA </a:t>
            </a:r>
            <a:r>
              <a:rPr lang="en-US" sz="2300" dirty="0" smtClean="0"/>
              <a:t>(vulnerability</a:t>
            </a:r>
            <a:r>
              <a:rPr lang="en-US" sz="2300" dirty="0"/>
              <a:t>) scores used when </a:t>
            </a:r>
            <a:r>
              <a:rPr lang="en-US" sz="2300" dirty="0" smtClean="0"/>
              <a:t>status is unknown</a:t>
            </a:r>
            <a:endParaRPr lang="en-US" sz="2300" dirty="0"/>
          </a:p>
          <a:p>
            <a:r>
              <a:rPr lang="en-US" sz="2400" dirty="0" smtClean="0">
                <a:latin typeface="Calibri" panose="020F0502020204030204" pitchFamily="34" charset="0"/>
              </a:rPr>
              <a:t>Point </a:t>
            </a:r>
            <a:r>
              <a:rPr lang="en-US" sz="2400" dirty="0" smtClean="0">
                <a:latin typeface="Calibri" panose="020F0502020204030204" pitchFamily="34" charset="0"/>
              </a:rPr>
              <a:t>Range</a:t>
            </a:r>
            <a:r>
              <a:rPr lang="en-US" sz="2400" dirty="0" smtClean="0">
                <a:latin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</a:rPr>
              <a:t>1</a:t>
            </a:r>
            <a:r>
              <a:rPr lang="en-US" sz="2400" dirty="0" smtClean="0"/>
              <a:t>–</a:t>
            </a:r>
            <a:r>
              <a:rPr lang="en-US" sz="2400" dirty="0" smtClean="0">
                <a:latin typeface="Calibri" panose="020F0502020204030204" pitchFamily="34" charset="0"/>
              </a:rPr>
              <a:t>10</a:t>
            </a:r>
            <a:endParaRPr lang="en-US" sz="2400" dirty="0" smtClean="0"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8108" y="3293501"/>
            <a:ext cx="5094748" cy="35090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45" y="3365060"/>
            <a:ext cx="5075360" cy="33988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97890" y="6337190"/>
            <a:ext cx="4738976" cy="358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*Pacific spiny dogfish percent of unfished updated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702" y="1162303"/>
            <a:ext cx="5215352" cy="504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65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6"/>
            <a:ext cx="10515600" cy="1136866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Fishing </a:t>
            </a:r>
            <a:r>
              <a:rPr lang="en-US" sz="4000" b="1" dirty="0"/>
              <a:t>Mortality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8" y="1003610"/>
            <a:ext cx="6053130" cy="2843561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300" dirty="0">
                <a:latin typeface="Calibri" panose="020F0502020204030204" pitchFamily="34" charset="0"/>
              </a:rPr>
              <a:t>	 </a:t>
            </a:r>
          </a:p>
          <a:p>
            <a:pPr>
              <a:spcAft>
                <a:spcPts val="300"/>
              </a:spcAft>
            </a:pPr>
            <a:r>
              <a:rPr lang="en-US" sz="2300" dirty="0" smtClean="0"/>
              <a:t>Scoring is based </a:t>
            </a:r>
            <a:r>
              <a:rPr lang="en-US" sz="2300" dirty="0" smtClean="0"/>
              <a:t>percent attainment of the average 2018-20 catch to OFLs </a:t>
            </a:r>
            <a:r>
              <a:rPr lang="en-US" sz="2300" dirty="0" smtClean="0"/>
              <a:t>in those years</a:t>
            </a:r>
            <a:endParaRPr lang="en-US" sz="23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 txBox="1">
            <a:spLocks/>
          </p:cNvSpPr>
          <p:nvPr/>
        </p:nvSpPr>
        <p:spPr>
          <a:xfrm>
            <a:off x="413658" y="2274850"/>
            <a:ext cx="2678602" cy="37289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600" kern="1200" spc="11" baseline="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8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rgbClr val="00467F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300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Italicized</a:t>
            </a:r>
            <a:r>
              <a:rPr lang="en-US" sz="2300" dirty="0" smtClean="0"/>
              <a:t> values indicate that the species makes an OFL contribution to an assemblage</a:t>
            </a:r>
          </a:p>
          <a:p>
            <a:pPr>
              <a:spcAft>
                <a:spcPts val="600"/>
              </a:spcAft>
            </a:pPr>
            <a:r>
              <a:rPr lang="en-US" sz="2300" dirty="0" smtClean="0">
                <a:latin typeface="Calibri" panose="020F0502020204030204" pitchFamily="34" charset="0"/>
              </a:rPr>
              <a:t>Values are </a:t>
            </a:r>
            <a:r>
              <a:rPr lang="en-US" sz="2300" b="1" dirty="0" smtClean="0">
                <a:latin typeface="Calibri" panose="020F0502020204030204" pitchFamily="34" charset="0"/>
              </a:rPr>
              <a:t>Bold</a:t>
            </a:r>
            <a:r>
              <a:rPr lang="en-US" sz="2300" dirty="0" smtClean="0">
                <a:latin typeface="Calibri" panose="020F0502020204030204" pitchFamily="34" charset="0"/>
              </a:rPr>
              <a:t> for species with  individual OFLs</a:t>
            </a:r>
          </a:p>
          <a:p>
            <a:pPr>
              <a:spcAft>
                <a:spcPts val="600"/>
              </a:spcAft>
            </a:pPr>
            <a:r>
              <a:rPr lang="en-US" sz="2300" u="sng" dirty="0" smtClean="0">
                <a:latin typeface="Calibri" panose="020F0502020204030204" pitchFamily="34" charset="0"/>
              </a:rPr>
              <a:t>Point Range</a:t>
            </a:r>
            <a:r>
              <a:rPr lang="en-US" sz="2300" dirty="0" smtClean="0">
                <a:latin typeface="Calibri" panose="020F0502020204030204" pitchFamily="34" charset="0"/>
              </a:rPr>
              <a:t>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2300" dirty="0" smtClean="0">
                <a:latin typeface="Calibri" panose="020F0502020204030204" pitchFamily="34" charset="0"/>
              </a:rPr>
              <a:t>    1</a:t>
            </a:r>
            <a:r>
              <a:rPr lang="en-US" sz="2000" dirty="0"/>
              <a:t>–</a:t>
            </a:r>
            <a:r>
              <a:rPr lang="en-US" sz="2300" dirty="0" smtClean="0"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3287" y="4812071"/>
            <a:ext cx="1201197" cy="202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365" y="2407950"/>
            <a:ext cx="3408052" cy="4077053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985609"/>
              </p:ext>
            </p:extLst>
          </p:nvPr>
        </p:nvGraphicFramePr>
        <p:xfrm>
          <a:off x="6675325" y="795726"/>
          <a:ext cx="5247241" cy="5654200"/>
        </p:xfrm>
        <a:graphic>
          <a:graphicData uri="http://schemas.openxmlformats.org/drawingml/2006/table">
            <a:tbl>
              <a:tblPr/>
              <a:tblGrid>
                <a:gridCol w="2651531">
                  <a:extLst>
                    <a:ext uri="{9D8B030D-6E8A-4147-A177-3AD203B41FA5}">
                      <a16:colId xmlns:a16="http://schemas.microsoft.com/office/drawing/2014/main" val="3422230584"/>
                    </a:ext>
                  </a:extLst>
                </a:gridCol>
                <a:gridCol w="516351">
                  <a:extLst>
                    <a:ext uri="{9D8B030D-6E8A-4147-A177-3AD203B41FA5}">
                      <a16:colId xmlns:a16="http://schemas.microsoft.com/office/drawing/2014/main" val="1734653572"/>
                    </a:ext>
                  </a:extLst>
                </a:gridCol>
                <a:gridCol w="669861">
                  <a:extLst>
                    <a:ext uri="{9D8B030D-6E8A-4147-A177-3AD203B41FA5}">
                      <a16:colId xmlns:a16="http://schemas.microsoft.com/office/drawing/2014/main" val="3692129838"/>
                    </a:ext>
                  </a:extLst>
                </a:gridCol>
                <a:gridCol w="725682">
                  <a:extLst>
                    <a:ext uri="{9D8B030D-6E8A-4147-A177-3AD203B41FA5}">
                      <a16:colId xmlns:a16="http://schemas.microsoft.com/office/drawing/2014/main" val="2532137254"/>
                    </a:ext>
                  </a:extLst>
                </a:gridCol>
                <a:gridCol w="683816">
                  <a:extLst>
                    <a:ext uri="{9D8B030D-6E8A-4147-A177-3AD203B41FA5}">
                      <a16:colId xmlns:a16="http://schemas.microsoft.com/office/drawing/2014/main" val="698248018"/>
                    </a:ext>
                  </a:extLst>
                </a:gridCol>
              </a:tblGrid>
              <a:tr h="91264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Species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Factor Score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OFL Attain.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OFL - Catch (mt)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89216"/>
                  </a:ext>
                </a:extLst>
              </a:tr>
              <a:tr h="3251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Quillback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212%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-14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70876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Rosethorn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143%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-6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099607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Squarespot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145%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-5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097239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Stripetail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124%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-15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576094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Vermilion/Sunset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138%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CC0000"/>
                          </a:solidFill>
                          <a:effectLst/>
                          <a:latin typeface="Calibri" panose="020F0502020204030204" pitchFamily="34" charset="0"/>
                        </a:rPr>
                        <a:t>-107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47204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Blue/Deacon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935961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Petrale sole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489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599335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Redbanded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94420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Rougheye/Blackspotted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557214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Treefish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B2292E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369786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Widow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2,919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474597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Brown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663054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China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35901"/>
                  </a:ext>
                </a:extLst>
              </a:tr>
              <a:tr h="31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Copper rockfish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93719"/>
                  </a:ext>
                </a:extLst>
              </a:tr>
              <a:tr h="32519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Flathead Sole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299139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3042858" y="2323107"/>
            <a:ext cx="3498560" cy="41931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32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6"/>
            <a:ext cx="10515600" cy="1136866"/>
          </a:xfrm>
        </p:spPr>
        <p:txBody>
          <a:bodyPr>
            <a:normAutofit/>
          </a:bodyPr>
          <a:lstStyle/>
          <a:p>
            <a:r>
              <a:rPr lang="en-US" sz="4000" b="1" dirty="0"/>
              <a:t>Ecosystem Importance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8" y="1003610"/>
            <a:ext cx="5911728" cy="2064443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 smtClean="0">
                <a:latin typeface="Calibri" panose="020F0502020204030204" pitchFamily="34" charset="0"/>
              </a:rPr>
              <a:t>:</a:t>
            </a:r>
            <a:endParaRPr lang="en-US" sz="2400" dirty="0" smtClean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0" indent="0">
              <a:spcAft>
                <a:spcPts val="1200"/>
              </a:spcAft>
              <a:buNone/>
            </a:pPr>
            <a:r>
              <a:rPr lang="en-US" sz="2300" dirty="0" smtClean="0"/>
              <a:t>Based </a:t>
            </a:r>
            <a:r>
              <a:rPr lang="en-US" sz="2300" dirty="0"/>
              <a:t>on Top-down and Bottom-up importance for managed and protected (M-P) </a:t>
            </a:r>
            <a:r>
              <a:rPr lang="en-US" sz="2300" dirty="0" smtClean="0"/>
              <a:t>species, </a:t>
            </a:r>
            <a:r>
              <a:rPr lang="en-US" sz="2300" dirty="0"/>
              <a:t>using </a:t>
            </a:r>
            <a:r>
              <a:rPr lang="en-US" sz="2300" dirty="0" smtClean="0"/>
              <a:t>all species in the </a:t>
            </a:r>
            <a:r>
              <a:rPr lang="en-US" sz="2300" dirty="0"/>
              <a:t>Koehn et al. (2016) </a:t>
            </a:r>
            <a:r>
              <a:rPr lang="en-US" sz="2300" dirty="0" err="1"/>
              <a:t>Ecopath</a:t>
            </a:r>
            <a:r>
              <a:rPr lang="en-US" sz="2300" dirty="0"/>
              <a:t> </a:t>
            </a:r>
            <a:r>
              <a:rPr lang="en-US" sz="2300" dirty="0" smtClean="0"/>
              <a:t>model</a:t>
            </a:r>
            <a:endParaRPr lang="en-US" sz="23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 txBox="1">
            <a:spLocks/>
          </p:cNvSpPr>
          <p:nvPr/>
        </p:nvSpPr>
        <p:spPr>
          <a:xfrm>
            <a:off x="456235" y="2971800"/>
            <a:ext cx="5306891" cy="3152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600" kern="1200" spc="11" baseline="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8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rgbClr val="00467F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 dirty="0" smtClean="0"/>
              <a:t>Top-down</a:t>
            </a:r>
            <a:r>
              <a:rPr lang="en-US" sz="2300" dirty="0"/>
              <a:t>: what eats M-P </a:t>
            </a:r>
            <a:r>
              <a:rPr lang="en-US" sz="2300" dirty="0" smtClean="0"/>
              <a:t>species -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300" dirty="0"/>
              <a:t> </a:t>
            </a:r>
            <a:r>
              <a:rPr lang="en-US" sz="2300" dirty="0" smtClean="0"/>
              <a:t>       max </a:t>
            </a:r>
            <a:r>
              <a:rPr lang="en-US" sz="2300" dirty="0"/>
              <a:t>(10) = P. hake</a:t>
            </a:r>
          </a:p>
          <a:p>
            <a:r>
              <a:rPr lang="en-US" sz="2300" b="1" dirty="0" smtClean="0"/>
              <a:t>Bottom-up</a:t>
            </a:r>
            <a:r>
              <a:rPr lang="en-US" sz="2300" dirty="0"/>
              <a:t>: what M-P species </a:t>
            </a:r>
            <a:r>
              <a:rPr lang="en-US" sz="2300" dirty="0" smtClean="0"/>
              <a:t>eat -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300" dirty="0"/>
              <a:t> </a:t>
            </a:r>
            <a:r>
              <a:rPr lang="en-US" sz="2300" dirty="0" smtClean="0"/>
              <a:t>       max </a:t>
            </a:r>
            <a:r>
              <a:rPr lang="en-US" sz="2300" dirty="0"/>
              <a:t>(10) = Phytoplankton &amp; </a:t>
            </a:r>
            <a:r>
              <a:rPr lang="en-US" sz="2300" dirty="0" err="1" smtClean="0"/>
              <a:t>infauna</a:t>
            </a:r>
            <a:endParaRPr lang="en-US" sz="2300" dirty="0" smtClean="0"/>
          </a:p>
          <a:p>
            <a:pPr>
              <a:spcAft>
                <a:spcPts val="600"/>
              </a:spcAft>
            </a:pPr>
            <a:r>
              <a:rPr lang="en-US" sz="2300" dirty="0" err="1" smtClean="0"/>
              <a:t>Ecopath</a:t>
            </a:r>
            <a:r>
              <a:rPr lang="en-US" sz="2300" dirty="0" smtClean="0"/>
              <a:t> </a:t>
            </a:r>
            <a:r>
              <a:rPr lang="en-US" sz="2300" dirty="0"/>
              <a:t>‘assemblage’ </a:t>
            </a:r>
            <a:r>
              <a:rPr lang="en-US" sz="2300" dirty="0" smtClean="0"/>
              <a:t>scores were </a:t>
            </a:r>
            <a:r>
              <a:rPr lang="en-US" sz="2300" dirty="0"/>
              <a:t>distributed among </a:t>
            </a:r>
            <a:r>
              <a:rPr lang="en-US" sz="2300" dirty="0" smtClean="0"/>
              <a:t>spp. using </a:t>
            </a:r>
            <a:r>
              <a:rPr lang="en-US" sz="2300" dirty="0" smtClean="0"/>
              <a:t>2018-20 </a:t>
            </a:r>
            <a:r>
              <a:rPr lang="en-US" sz="2300" dirty="0" smtClean="0"/>
              <a:t>OFLs/contributions </a:t>
            </a:r>
            <a:endParaRPr lang="en-US" sz="2300" dirty="0" smtClean="0"/>
          </a:p>
          <a:p>
            <a:pPr>
              <a:spcAft>
                <a:spcPts val="600"/>
              </a:spcAft>
            </a:pPr>
            <a:r>
              <a:rPr lang="en-US" sz="2300" u="sng" dirty="0" smtClean="0">
                <a:latin typeface="Calibri" panose="020F0502020204030204" pitchFamily="34" charset="0"/>
              </a:rPr>
              <a:t>Point </a:t>
            </a:r>
            <a:r>
              <a:rPr lang="en-US" sz="2300" u="sng" dirty="0">
                <a:latin typeface="Calibri" panose="020F0502020204030204" pitchFamily="34" charset="0"/>
              </a:rPr>
              <a:t>Range</a:t>
            </a:r>
            <a:r>
              <a:rPr lang="en-US" sz="2300" dirty="0">
                <a:latin typeface="Calibri" panose="020F0502020204030204" pitchFamily="34" charset="0"/>
              </a:rPr>
              <a:t>: </a:t>
            </a:r>
            <a:r>
              <a:rPr lang="en-US" sz="2300" dirty="0">
                <a:latin typeface="Calibri" panose="020F0502020204030204" pitchFamily="34" charset="0"/>
              </a:rPr>
              <a:t>0</a:t>
            </a:r>
            <a:r>
              <a:rPr lang="en-US" sz="2000" dirty="0" smtClean="0"/>
              <a:t>–</a:t>
            </a:r>
            <a:r>
              <a:rPr lang="en-US" sz="2300" dirty="0" smtClean="0">
                <a:latin typeface="Calibri" panose="020F0502020204030204" pitchFamily="34" charset="0"/>
              </a:rPr>
              <a:t>10</a:t>
            </a:r>
            <a:endParaRPr lang="en-US" sz="2300" dirty="0">
              <a:latin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61" y="273222"/>
            <a:ext cx="5227300" cy="615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76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6"/>
            <a:ext cx="10515600" cy="1136866"/>
          </a:xfrm>
        </p:spPr>
        <p:txBody>
          <a:bodyPr>
            <a:normAutofit/>
          </a:bodyPr>
          <a:lstStyle/>
          <a:p>
            <a:r>
              <a:rPr lang="en-US" sz="4000" b="1" dirty="0"/>
              <a:t>Assessment – New Information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658" y="1166192"/>
            <a:ext cx="6194532" cy="4115175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600" b="1" u="sng" dirty="0">
                <a:latin typeface="Calibri" panose="020F0502020204030204" pitchFamily="34" charset="0"/>
              </a:rPr>
              <a:t>Description</a:t>
            </a:r>
            <a:r>
              <a:rPr lang="en-US" sz="2600" b="1" dirty="0">
                <a:latin typeface="Calibri" panose="020F0502020204030204" pitchFamily="34" charset="0"/>
              </a:rPr>
              <a:t>:</a:t>
            </a:r>
            <a:r>
              <a:rPr lang="en-US" sz="2600" dirty="0">
                <a:latin typeface="Calibri" panose="020F0502020204030204" pitchFamily="34" charset="0"/>
              </a:rPr>
              <a:t> </a:t>
            </a:r>
            <a:r>
              <a:rPr lang="en-US" sz="2300" dirty="0">
                <a:latin typeface="Calibri" panose="020F0502020204030204" pitchFamily="34" charset="0"/>
              </a:rPr>
              <a:t>	 </a:t>
            </a:r>
          </a:p>
          <a:p>
            <a:pPr>
              <a:spcAft>
                <a:spcPts val="600"/>
              </a:spcAft>
            </a:pPr>
            <a:r>
              <a:rPr lang="en-US" sz="2500" dirty="0"/>
              <a:t>Scoring reflects </a:t>
            </a:r>
            <a:r>
              <a:rPr lang="en-US" sz="2500" dirty="0" smtClean="0"/>
              <a:t>subjective rating of the expected </a:t>
            </a:r>
            <a:r>
              <a:rPr lang="en-US" sz="2500" dirty="0"/>
              <a:t>availability of </a:t>
            </a:r>
            <a:r>
              <a:rPr lang="en-US" sz="2500" dirty="0" smtClean="0"/>
              <a:t>important (new) data/sources </a:t>
            </a:r>
            <a:r>
              <a:rPr lang="en-US" sz="2500" dirty="0"/>
              <a:t>or </a:t>
            </a:r>
            <a:r>
              <a:rPr lang="en-US" sz="2500" dirty="0" smtClean="0"/>
              <a:t>methods that could:</a:t>
            </a:r>
          </a:p>
          <a:p>
            <a:pPr lvl="1">
              <a:spcAft>
                <a:spcPts val="600"/>
              </a:spcAft>
            </a:pPr>
            <a:r>
              <a:rPr lang="en-US" sz="2400" dirty="0"/>
              <a:t>A</a:t>
            </a:r>
            <a:r>
              <a:rPr lang="en-US" sz="2400" dirty="0" smtClean="0"/>
              <a:t>ffect </a:t>
            </a:r>
            <a:r>
              <a:rPr lang="en-US" sz="2400" dirty="0" smtClean="0"/>
              <a:t>the findings of or resolve uncertainties from previous assessments,</a:t>
            </a:r>
          </a:p>
          <a:p>
            <a:pPr lvl="1">
              <a:spcAft>
                <a:spcPts val="600"/>
              </a:spcAft>
            </a:pPr>
            <a:r>
              <a:rPr lang="en-US" sz="2400" dirty="0"/>
              <a:t>A</a:t>
            </a:r>
            <a:r>
              <a:rPr lang="en-US" sz="2400" dirty="0" smtClean="0"/>
              <a:t>llow </a:t>
            </a:r>
            <a:r>
              <a:rPr lang="en-US" sz="2400" dirty="0" smtClean="0"/>
              <a:t>the assessment “uncertainty” category to be upgraded, or </a:t>
            </a:r>
          </a:p>
          <a:p>
            <a:pPr lvl="1">
              <a:spcAft>
                <a:spcPts val="400"/>
              </a:spcAft>
            </a:pPr>
            <a:r>
              <a:rPr lang="en-US" sz="2400" dirty="0"/>
              <a:t>F</a:t>
            </a:r>
            <a:r>
              <a:rPr lang="en-US" sz="2400" dirty="0" smtClean="0"/>
              <a:t>acilitate </a:t>
            </a:r>
            <a:r>
              <a:rPr lang="en-US" sz="2400" dirty="0" smtClean="0"/>
              <a:t>a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-time </a:t>
            </a:r>
            <a:r>
              <a:rPr lang="en-US" sz="2400" dirty="0" smtClean="0"/>
              <a:t>assessment.</a:t>
            </a:r>
            <a:br>
              <a:rPr lang="en-US" sz="2400" dirty="0" smtClean="0"/>
            </a:br>
            <a:endParaRPr lang="en-US" sz="2400" dirty="0" smtClean="0"/>
          </a:p>
          <a:p>
            <a:pPr>
              <a:spcAft>
                <a:spcPts val="400"/>
              </a:spcAft>
            </a:pPr>
            <a:r>
              <a:rPr lang="en-US" sz="2500" dirty="0" smtClean="0"/>
              <a:t>Point Range: 0-10</a:t>
            </a:r>
            <a:endParaRPr lang="en-US" sz="2500" dirty="0" smtClean="0"/>
          </a:p>
          <a:p>
            <a:pPr marL="274317" lvl="1" indent="0">
              <a:spcAft>
                <a:spcPts val="400"/>
              </a:spcAft>
              <a:buNone/>
            </a:pP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102" y="858281"/>
            <a:ext cx="5400430" cy="56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86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3742995"/>
              </p:ext>
            </p:extLst>
          </p:nvPr>
        </p:nvGraphicFramePr>
        <p:xfrm>
          <a:off x="6266678" y="2618907"/>
          <a:ext cx="5322139" cy="3611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186607"/>
            <a:ext cx="11132582" cy="1329372"/>
          </a:xfrm>
        </p:spPr>
        <p:txBody>
          <a:bodyPr>
            <a:normAutofit/>
          </a:bodyPr>
          <a:lstStyle/>
          <a:p>
            <a:r>
              <a:rPr lang="en-US" sz="4000" b="1" dirty="0"/>
              <a:t>Target </a:t>
            </a:r>
            <a:r>
              <a:rPr lang="en-US" sz="4000" b="1" dirty="0" smtClean="0"/>
              <a:t>Frequency &amp; Years Since Last </a:t>
            </a:r>
            <a:r>
              <a:rPr lang="en-US" sz="4000" b="1" dirty="0" smtClean="0"/>
              <a:t>Assessment</a:t>
            </a:r>
            <a:endParaRPr lang="en-US" sz="28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944" y="1412282"/>
            <a:ext cx="11637244" cy="4647021"/>
          </a:xfrm>
        </p:spPr>
        <p:txBody>
          <a:bodyPr>
            <a:noAutofit/>
          </a:bodyPr>
          <a:lstStyle/>
          <a:p>
            <a:pPr>
              <a:spcAft>
                <a:spcPts val="200"/>
              </a:spcAft>
            </a:pPr>
            <a:r>
              <a:rPr lang="en-US" sz="2500" dirty="0" smtClean="0">
                <a:latin typeface="Calibri" panose="020F0502020204030204" pitchFamily="34" charset="0"/>
              </a:rPr>
              <a:t>Most important Factor for lowering ranking after assessment</a:t>
            </a:r>
          </a:p>
          <a:p>
            <a:pPr>
              <a:spcAft>
                <a:spcPts val="200"/>
              </a:spcAft>
            </a:pPr>
            <a:r>
              <a:rPr lang="en-US" sz="2500" dirty="0" smtClean="0">
                <a:latin typeface="Calibri" panose="020F0502020204030204" pitchFamily="34" charset="0"/>
              </a:rPr>
              <a:t>Applies additive adjustments </a:t>
            </a:r>
            <a:r>
              <a:rPr lang="en-US" sz="2500" dirty="0" smtClean="0">
                <a:latin typeface="Calibri" panose="020F0502020204030204" pitchFamily="34" charset="0"/>
              </a:rPr>
              <a:t>based on:</a:t>
            </a:r>
            <a:endParaRPr lang="en-US" sz="2500" dirty="0">
              <a:latin typeface="Calibri" panose="020F0502020204030204" pitchFamily="34" charset="0"/>
            </a:endParaRPr>
          </a:p>
          <a:p>
            <a:pPr lvl="1">
              <a:spcAft>
                <a:spcPts val="200"/>
              </a:spcAft>
            </a:pPr>
            <a:r>
              <a:rPr lang="en-US" sz="2300" dirty="0" smtClean="0">
                <a:solidFill>
                  <a:schemeClr val="tx1"/>
                </a:solidFill>
                <a:latin typeface="Calibri" panose="020F0502020204030204" pitchFamily="34" charset="0"/>
              </a:rPr>
              <a:t>Recruitment </a:t>
            </a:r>
            <a:r>
              <a:rPr lang="en-US" sz="2300" dirty="0" smtClean="0">
                <a:solidFill>
                  <a:schemeClr val="tx1"/>
                </a:solidFill>
                <a:latin typeface="Calibri" panose="020F0502020204030204" pitchFamily="34" charset="0"/>
              </a:rPr>
              <a:t>variability, </a:t>
            </a:r>
            <a:r>
              <a:rPr lang="el-GR" sz="2400" b="1" dirty="0">
                <a:solidFill>
                  <a:schemeClr val="tx1"/>
                </a:solidFill>
              </a:rPr>
              <a:t>σ</a:t>
            </a:r>
            <a:r>
              <a:rPr lang="en-US" sz="2300" baseline="-25000" dirty="0" smtClean="0">
                <a:solidFill>
                  <a:schemeClr val="tx1"/>
                </a:solidFill>
              </a:rPr>
              <a:t>R</a:t>
            </a:r>
            <a:r>
              <a:rPr lang="en-US" sz="2300" dirty="0" smtClean="0">
                <a:solidFill>
                  <a:schemeClr val="tx1"/>
                </a:solidFill>
              </a:rPr>
              <a:t>,  and mean catch</a:t>
            </a:r>
            <a:endParaRPr lang="en-US" sz="23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>
              <a:spcAft>
                <a:spcPts val="200"/>
              </a:spcAft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</a:rPr>
              <a:t>Fishery Importance (using the sum </a:t>
            </a:r>
            <a:r>
              <a:rPr lang="en-US" sz="2300" dirty="0" smtClean="0">
                <a:solidFill>
                  <a:schemeClr val="tx1"/>
                </a:solidFill>
                <a:latin typeface="Calibri" panose="020F0502020204030204" pitchFamily="34" charset="0"/>
              </a:rPr>
              <a:t>of</a:t>
            </a:r>
          </a:p>
          <a:p>
            <a:pPr marL="274317" lvl="1" indent="0">
              <a:spcAft>
                <a:spcPts val="200"/>
              </a:spcAft>
              <a:buNone/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sz="23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    </a:t>
            </a: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</a:rPr>
              <a:t>weighted Fishery Factor scores)</a:t>
            </a:r>
          </a:p>
          <a:p>
            <a:pPr lvl="1">
              <a:spcAft>
                <a:spcPts val="200"/>
              </a:spcAft>
            </a:pPr>
            <a:r>
              <a:rPr lang="en-US" sz="2300" dirty="0">
                <a:solidFill>
                  <a:schemeClr val="tx1"/>
                </a:solidFill>
                <a:latin typeface="Calibri" panose="020F0502020204030204" pitchFamily="34" charset="0"/>
              </a:rPr>
              <a:t>Ecosystem </a:t>
            </a:r>
            <a:r>
              <a:rPr lang="en-US" sz="2300" dirty="0" smtClean="0">
                <a:solidFill>
                  <a:schemeClr val="tx1"/>
                </a:solidFill>
                <a:latin typeface="Calibri" panose="020F0502020204030204" pitchFamily="34" charset="0"/>
              </a:rPr>
              <a:t>Importance</a:t>
            </a:r>
            <a:endParaRPr lang="en-US" sz="2300" dirty="0" smtClean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2400" dirty="0" smtClean="0"/>
              <a:t>Rounded to the nearest 2 years, </a:t>
            </a:r>
            <a:r>
              <a:rPr lang="en-US" sz="2400" dirty="0" smtClean="0"/>
              <a:t>between </a:t>
            </a:r>
            <a:r>
              <a:rPr lang="en-US" sz="2400" dirty="0" smtClean="0"/>
              <a:t>4 </a:t>
            </a:r>
            <a:endParaRPr lang="en-US" sz="2400" dirty="0" smtClean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 smtClean="0"/>
              <a:t>   and </a:t>
            </a:r>
            <a:r>
              <a:rPr lang="en-US" sz="2400" dirty="0" smtClean="0"/>
              <a:t>10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 smtClean="0"/>
              <a:t>Initial score is calculated as: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Max</a:t>
            </a:r>
            <a:r>
              <a:rPr lang="en-US" sz="2400" dirty="0">
                <a:solidFill>
                  <a:schemeClr val="tx1"/>
                </a:solidFill>
              </a:rPr>
              <a:t>[(Years since last assessment –</a:t>
            </a:r>
            <a:endParaRPr lang="en-US" sz="2400" b="1" dirty="0">
              <a:solidFill>
                <a:schemeClr val="tx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       Target Frequency), 0</a:t>
            </a:r>
            <a:r>
              <a:rPr lang="en-US" sz="2400" dirty="0" smtClean="0">
                <a:solidFill>
                  <a:schemeClr val="tx1"/>
                </a:solidFill>
              </a:rPr>
              <a:t>]</a:t>
            </a:r>
            <a:endParaRPr lang="en-US" sz="2400" dirty="0" smtClean="0"/>
          </a:p>
          <a:p>
            <a:pPr>
              <a:spcAft>
                <a:spcPts val="200"/>
              </a:spcAft>
            </a:pPr>
            <a:r>
              <a:rPr lang="en-US" sz="2400" u="sng" dirty="0">
                <a:latin typeface="Calibri" panose="020F0502020204030204" pitchFamily="34" charset="0"/>
              </a:rPr>
              <a:t>Point Range</a:t>
            </a:r>
            <a:r>
              <a:rPr lang="en-US" sz="2400" dirty="0">
                <a:latin typeface="Calibri" panose="020F0502020204030204" pitchFamily="34" charset="0"/>
              </a:rPr>
              <a:t>: (-4)</a:t>
            </a:r>
            <a:r>
              <a:rPr lang="en-US" sz="2400" dirty="0"/>
              <a:t>–1</a:t>
            </a:r>
            <a:r>
              <a:rPr lang="en-US" sz="2400" dirty="0">
                <a:latin typeface="Calibri" panose="020F0502020204030204" pitchFamily="34" charset="0"/>
              </a:rPr>
              <a:t>0</a:t>
            </a:r>
          </a:p>
          <a:p>
            <a:pPr>
              <a:spcAft>
                <a:spcPts val="200"/>
              </a:spcAft>
            </a:pPr>
            <a:endParaRPr lang="en-US" sz="2400" dirty="0" smtClean="0"/>
          </a:p>
          <a:p>
            <a:pPr marL="0" indent="0">
              <a:spcAft>
                <a:spcPts val="200"/>
              </a:spcAft>
              <a:buNone/>
            </a:pPr>
            <a:r>
              <a:rPr lang="en-US" sz="2300" dirty="0" smtClean="0">
                <a:solidFill>
                  <a:schemeClr val="tx1"/>
                </a:solidFill>
              </a:rPr>
              <a:t>    </a:t>
            </a:r>
            <a:endParaRPr lang="en-US" sz="2300" dirty="0" smtClean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8092" y="2616928"/>
            <a:ext cx="528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latin typeface="+mj-lt"/>
              </a:rPr>
              <a:t>Number of species in the detailed analysis, by target assessment frequency</a:t>
            </a:r>
            <a:endParaRPr lang="en-US" sz="18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78912" y="5353426"/>
            <a:ext cx="1449581" cy="6250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Species w/o assessments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78103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86501"/>
            <a:ext cx="11132582" cy="113686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Target </a:t>
            </a:r>
            <a:r>
              <a:rPr lang="en-US" sz="4000" b="1" dirty="0" smtClean="0"/>
              <a:t>Frequency &amp; 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Years </a:t>
            </a:r>
            <a:r>
              <a:rPr lang="en-US" sz="4000" b="1" dirty="0" smtClean="0"/>
              <a:t>Since Last Assessment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56235" y="1547943"/>
            <a:ext cx="6931064" cy="4252558"/>
          </a:xfrm>
        </p:spPr>
        <p:txBody>
          <a:bodyPr>
            <a:normAutofit/>
          </a:bodyPr>
          <a:lstStyle/>
          <a:p>
            <a:r>
              <a:rPr lang="en-US" sz="2600" dirty="0" err="1" smtClean="0"/>
              <a:t>Splitnose</a:t>
            </a:r>
            <a:r>
              <a:rPr lang="en-US" sz="2600" dirty="0" smtClean="0"/>
              <a:t> and </a:t>
            </a:r>
            <a:r>
              <a:rPr lang="en-US" sz="2600" dirty="0" err="1" smtClean="0"/>
              <a:t>greenstriped</a:t>
            </a:r>
            <a:r>
              <a:rPr lang="en-US" sz="2600" dirty="0" smtClean="0"/>
              <a:t> rockfishes are ranked high because they are beyond their calculated assessment frequency. </a:t>
            </a:r>
          </a:p>
          <a:p>
            <a:endParaRPr lang="en-US" sz="2600" dirty="0" smtClean="0"/>
          </a:p>
          <a:p>
            <a:r>
              <a:rPr lang="en-US" sz="2600" dirty="0" smtClean="0"/>
              <a:t>Both English and rex sole were last assessed as index-based data-moderate assessments.</a:t>
            </a:r>
          </a:p>
          <a:p>
            <a:endParaRPr lang="en-US" sz="2600" dirty="0" smtClean="0"/>
          </a:p>
          <a:p>
            <a:r>
              <a:rPr lang="en-US" sz="2600" dirty="0" smtClean="0"/>
              <a:t>Majority of top ranked species are ones that have not been assessed to-date.</a:t>
            </a:r>
            <a:endParaRPr lang="en-US" sz="26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299" y="133349"/>
            <a:ext cx="4459082" cy="66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85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6"/>
            <a:ext cx="11132582" cy="1136866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Total Weighted Factor Scores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6735" y="1346509"/>
            <a:ext cx="11175159" cy="2241396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800" dirty="0" smtClean="0"/>
              <a:t>All </a:t>
            </a:r>
            <a:r>
              <a:rPr lang="en-US" sz="2800" dirty="0"/>
              <a:t>Factor Scores are assembled in the ‘Factor Summary’ </a:t>
            </a:r>
            <a:r>
              <a:rPr lang="en-US" sz="2800" dirty="0" smtClean="0"/>
              <a:t>tab</a:t>
            </a:r>
            <a:endParaRPr lang="en-US" sz="2800" dirty="0"/>
          </a:p>
          <a:p>
            <a:pPr>
              <a:spcAft>
                <a:spcPts val="1200"/>
              </a:spcAft>
            </a:pPr>
            <a:r>
              <a:rPr lang="en-US" sz="2800" dirty="0" smtClean="0"/>
              <a:t>The </a:t>
            </a:r>
            <a:r>
              <a:rPr lang="en-US" sz="2800" dirty="0"/>
              <a:t>Factor Scores are </a:t>
            </a:r>
            <a:r>
              <a:rPr lang="en-US" sz="2800" dirty="0" smtClean="0"/>
              <a:t>weighted, using the weights shown below</a:t>
            </a:r>
            <a:endParaRPr lang="en-US" sz="2800" dirty="0"/>
          </a:p>
          <a:p>
            <a:pPr>
              <a:spcAft>
                <a:spcPts val="1200"/>
              </a:spcAft>
            </a:pPr>
            <a:r>
              <a:rPr lang="en-US" sz="2800" dirty="0" smtClean="0"/>
              <a:t>The </a:t>
            </a:r>
            <a:r>
              <a:rPr lang="en-US" sz="2800" dirty="0"/>
              <a:t>summation of those weighted scores forms the basis </a:t>
            </a:r>
            <a:r>
              <a:rPr lang="en-US" sz="2800" dirty="0" smtClean="0"/>
              <a:t>for </a:t>
            </a:r>
            <a:r>
              <a:rPr lang="en-US" sz="2800" dirty="0"/>
              <a:t>ranking species</a:t>
            </a:r>
          </a:p>
          <a:p>
            <a:pPr lvl="1">
              <a:spcAft>
                <a:spcPts val="600"/>
              </a:spcAft>
            </a:pPr>
            <a:endParaRPr lang="en-US" sz="23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26" y="3587905"/>
            <a:ext cx="1028700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9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/>
          <p:cNvSpPr txBox="1">
            <a:spLocks/>
          </p:cNvSpPr>
          <p:nvPr/>
        </p:nvSpPr>
        <p:spPr>
          <a:xfrm>
            <a:off x="633423" y="5508"/>
            <a:ext cx="1106593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rgbClr val="00707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b="1" dirty="0" smtClean="0"/>
              <a:t>2023 Prioritization Ranking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13" y="977264"/>
            <a:ext cx="11079997" cy="57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16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1413" y="1691640"/>
            <a:ext cx="3761363" cy="505206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Note that data adequacy, length and age totals, are summarized on a </a:t>
            </a:r>
            <a:r>
              <a:rPr lang="en-US" sz="2000" dirty="0" err="1" smtClean="0"/>
              <a:t>coastwide</a:t>
            </a:r>
            <a:r>
              <a:rPr lang="en-US" sz="2000" dirty="0" smtClean="0"/>
              <a:t> basis where some species may have multiple assessment areas.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Detailed data summaries available in </a:t>
            </a:r>
            <a:r>
              <a:rPr lang="en-US" sz="2000" dirty="0"/>
              <a:t>E.8 Attachment 2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Index data is based on information from both the NWFSC West Coast </a:t>
            </a:r>
            <a:r>
              <a:rPr lang="en-US" sz="2000" dirty="0" err="1" smtClean="0"/>
              <a:t>Groundfish</a:t>
            </a:r>
            <a:r>
              <a:rPr lang="en-US" sz="2000" dirty="0" smtClean="0"/>
              <a:t> Trawl or the NWFSC Hook &amp; Line survey. 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776" y="587890"/>
            <a:ext cx="7658100" cy="56938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515475" y="587890"/>
            <a:ext cx="2355401" cy="569861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 txBox="1">
            <a:spLocks/>
          </p:cNvSpPr>
          <p:nvPr/>
        </p:nvSpPr>
        <p:spPr>
          <a:xfrm>
            <a:off x="451413" y="365760"/>
            <a:ext cx="5025462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rgbClr val="00707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4000" b="1" dirty="0" smtClean="0"/>
              <a:t>Data Availability: Species 1-15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8611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641" y="587890"/>
            <a:ext cx="7976835" cy="56986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44075" y="587890"/>
            <a:ext cx="2355401" cy="569861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13" y="365760"/>
            <a:ext cx="5025462" cy="132588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Data </a:t>
            </a:r>
            <a:r>
              <a:rPr lang="en-US" sz="4000" b="1" dirty="0" smtClean="0"/>
              <a:t>Availability: Species 16-30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451413" y="1691640"/>
            <a:ext cx="3761363" cy="5052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78" indent="-182878" algn="l" defTabSz="91439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3600" kern="1200" spc="11" baseline="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1pPr>
            <a:lvl2pPr marL="457195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8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2pPr>
            <a:lvl3pPr marL="731513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400" kern="1200">
                <a:solidFill>
                  <a:srgbClr val="00467F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30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4pPr>
            <a:lvl5pPr marL="1280147" indent="-182878" algn="l" defTabSz="91439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rgbClr val="00467F"/>
                </a:solidFill>
                <a:latin typeface="+mn-lt"/>
                <a:ea typeface="+mn-ea"/>
                <a:cs typeface="+mn-cs"/>
              </a:defRPr>
            </a:lvl5pPr>
            <a:lvl6pPr marL="1599984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99982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9978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99976" indent="-228598" algn="l" defTabSz="91439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mtClean="0"/>
              <a:t>Note that data adequacy, length and age totals, are summarized on a coastwide basis where some species may have multiple assessment areas.</a:t>
            </a:r>
          </a:p>
          <a:p>
            <a:pPr marL="0" indent="0">
              <a:buFont typeface="Arial" pitchFamily="34" charset="0"/>
              <a:buNone/>
            </a:pPr>
            <a:endParaRPr lang="en-US" sz="2000" smtClean="0"/>
          </a:p>
          <a:p>
            <a:r>
              <a:rPr lang="en-US" sz="2000" smtClean="0"/>
              <a:t>Detailed data summaries available in E.8 Attachment 2</a:t>
            </a:r>
          </a:p>
          <a:p>
            <a:endParaRPr lang="en-US" sz="2000" smtClean="0"/>
          </a:p>
          <a:p>
            <a:r>
              <a:rPr lang="en-US" sz="2000" smtClean="0"/>
              <a:t>Index data is based on information from both the NWFSC West Coast Groundfish Trawl or the NWFSC Hook &amp; Line survey.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42851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9" y="265399"/>
            <a:ext cx="10349766" cy="738211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78"/>
                </a:solidFill>
              </a:rPr>
              <a:t>Items to Consider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2069" y="1219199"/>
            <a:ext cx="11204294" cy="5248275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lang="en-US" sz="2700" b="1" dirty="0" smtClean="0"/>
              <a:t>Black rockfish </a:t>
            </a:r>
            <a:r>
              <a:rPr lang="en-US" sz="2700" dirty="0" smtClean="0"/>
              <a:t>(#2) </a:t>
            </a:r>
            <a:r>
              <a:rPr lang="en-US" sz="2700" dirty="0"/>
              <a:t>are a highly important </a:t>
            </a:r>
            <a:r>
              <a:rPr lang="en-US" sz="2700" dirty="0" smtClean="0"/>
              <a:t>stock. There </a:t>
            </a:r>
            <a:r>
              <a:rPr lang="en-US" sz="2700" dirty="0"/>
              <a:t>is new survey data available in Oregon that could be used to better inform the assessment of this area.  </a:t>
            </a:r>
            <a:r>
              <a:rPr lang="en-US" sz="2700" dirty="0" smtClean="0"/>
              <a:t>Likely to have area specific assessments (2015 had 3 areas).</a:t>
            </a:r>
          </a:p>
          <a:p>
            <a:pPr marL="0" indent="0">
              <a:spcAft>
                <a:spcPts val="400"/>
              </a:spcAft>
              <a:buNone/>
            </a:pPr>
            <a:endParaRPr lang="en-US" sz="2700" dirty="0" smtClean="0"/>
          </a:p>
          <a:p>
            <a:pPr>
              <a:spcAft>
                <a:spcPts val="400"/>
              </a:spcAft>
            </a:pPr>
            <a:r>
              <a:rPr lang="en-US" sz="2700" dirty="0" smtClean="0"/>
              <a:t>Some of the top ranked species this cycle are stocks that have not been previously assessed: </a:t>
            </a:r>
          </a:p>
          <a:p>
            <a:pPr lvl="1">
              <a:spcAft>
                <a:spcPts val="400"/>
              </a:spcAft>
            </a:pPr>
            <a:r>
              <a:rPr lang="en-US" sz="2400" b="1" dirty="0" err="1" smtClean="0"/>
              <a:t>Rosethorn</a:t>
            </a:r>
            <a:r>
              <a:rPr lang="en-US" sz="2400" b="1" dirty="0" smtClean="0"/>
              <a:t> rockfish </a:t>
            </a:r>
            <a:r>
              <a:rPr lang="en-US" sz="2400" dirty="0" smtClean="0"/>
              <a:t>has </a:t>
            </a:r>
            <a:r>
              <a:rPr lang="en-US" sz="2400" dirty="0"/>
              <a:t>limited commercial and recreational data but is well observed in the NWFSC </a:t>
            </a:r>
            <a:r>
              <a:rPr lang="en-US" sz="2400" dirty="0" smtClean="0"/>
              <a:t>WCGBT </a:t>
            </a:r>
            <a:r>
              <a:rPr lang="en-US" sz="2400" dirty="0"/>
              <a:t>survey. Data-moderate or </a:t>
            </a:r>
            <a:r>
              <a:rPr lang="en-US" sz="2400" dirty="0" smtClean="0"/>
              <a:t>a full </a:t>
            </a:r>
            <a:r>
              <a:rPr lang="en-US" sz="2400" dirty="0"/>
              <a:t>assessment may be feasible.</a:t>
            </a:r>
            <a:endParaRPr lang="en-US" sz="2400" b="1" dirty="0" smtClean="0"/>
          </a:p>
          <a:p>
            <a:pPr lvl="1">
              <a:spcAft>
                <a:spcPts val="400"/>
              </a:spcAft>
            </a:pPr>
            <a:r>
              <a:rPr lang="en-US" sz="2400" b="1" dirty="0" err="1" smtClean="0"/>
              <a:t>Redbanded</a:t>
            </a:r>
            <a:r>
              <a:rPr lang="en-US" sz="2400" b="1" dirty="0" smtClean="0"/>
              <a:t> rockfish </a:t>
            </a:r>
            <a:r>
              <a:rPr lang="en-US" sz="2400" dirty="0" smtClean="0"/>
              <a:t>has </a:t>
            </a:r>
            <a:r>
              <a:rPr lang="en-US" sz="2400" dirty="0"/>
              <a:t>enough commercial data and is observed well by the NWFSC </a:t>
            </a:r>
            <a:r>
              <a:rPr lang="en-US" sz="2400" dirty="0" smtClean="0"/>
              <a:t>WCGBT </a:t>
            </a:r>
            <a:r>
              <a:rPr lang="en-US" sz="2400" dirty="0"/>
              <a:t>survey. Full assessment </a:t>
            </a:r>
            <a:r>
              <a:rPr lang="en-US" sz="2400" dirty="0" smtClean="0"/>
              <a:t>could be feasible.</a:t>
            </a:r>
            <a:endParaRPr lang="en-US" sz="2400" b="1" dirty="0" smtClean="0"/>
          </a:p>
          <a:p>
            <a:pPr lvl="1">
              <a:spcAft>
                <a:spcPts val="400"/>
              </a:spcAft>
            </a:pPr>
            <a:r>
              <a:rPr lang="en-US" sz="2400" b="1" dirty="0" err="1" smtClean="0"/>
              <a:t>Treefish</a:t>
            </a:r>
            <a:r>
              <a:rPr lang="en-US" sz="2400" b="1" dirty="0" smtClean="0"/>
              <a:t> </a:t>
            </a:r>
            <a:r>
              <a:rPr lang="en-US" sz="2400" dirty="0"/>
              <a:t>are only observed in California and have medium recreational sampling. Not observed by either of the NWFSC surveys. </a:t>
            </a:r>
            <a:r>
              <a:rPr lang="en-US" sz="2400" dirty="0" smtClean="0"/>
              <a:t>A catch and length data-moderate would be the most feasible option.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0160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9" y="265399"/>
            <a:ext cx="10349766" cy="738211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78"/>
                </a:solidFill>
              </a:rPr>
              <a:t>Items to Consider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2069" y="984559"/>
            <a:ext cx="11204294" cy="5248275"/>
          </a:xfrm>
        </p:spPr>
        <p:txBody>
          <a:bodyPr>
            <a:noAutofit/>
          </a:bodyPr>
          <a:lstStyle/>
          <a:p>
            <a:pPr>
              <a:spcAft>
                <a:spcPts val="400"/>
              </a:spcAft>
            </a:pPr>
            <a:r>
              <a:rPr lang="en-US" sz="2300" b="1" dirty="0"/>
              <a:t>Quillback rockfish</a:t>
            </a:r>
            <a:r>
              <a:rPr lang="en-US" sz="2300" dirty="0"/>
              <a:t> </a:t>
            </a:r>
            <a:r>
              <a:rPr lang="en-US" sz="2300" dirty="0" smtClean="0"/>
              <a:t>(#1) was </a:t>
            </a:r>
            <a:r>
              <a:rPr lang="en-US" sz="2300" dirty="0"/>
              <a:t>the top ranked species this year  primarily driven by several factors: 1) </a:t>
            </a:r>
            <a:r>
              <a:rPr lang="en-US" sz="2300" dirty="0" smtClean="0"/>
              <a:t>fishing </a:t>
            </a:r>
            <a:r>
              <a:rPr lang="en-US" sz="2300" dirty="0"/>
              <a:t>mortality </a:t>
            </a:r>
            <a:r>
              <a:rPr lang="en-US" sz="2300" dirty="0" smtClean="0"/>
              <a:t>was 212% of the OFL, </a:t>
            </a:r>
            <a:r>
              <a:rPr lang="en-US" sz="2300" dirty="0"/>
              <a:t>2) </a:t>
            </a:r>
            <a:r>
              <a:rPr lang="en-US" sz="2300" dirty="0" smtClean="0"/>
              <a:t>potential to be a choke species, </a:t>
            </a:r>
            <a:r>
              <a:rPr lang="en-US" sz="2300" dirty="0"/>
              <a:t>and 3) </a:t>
            </a:r>
            <a:r>
              <a:rPr lang="en-US" sz="2300" dirty="0" smtClean="0"/>
              <a:t>combined </a:t>
            </a:r>
            <a:r>
              <a:rPr lang="en-US" sz="2300" dirty="0" err="1"/>
              <a:t>coastwide</a:t>
            </a:r>
            <a:r>
              <a:rPr lang="en-US" sz="2300" dirty="0"/>
              <a:t> stock status </a:t>
            </a:r>
            <a:r>
              <a:rPr lang="en-US" sz="2300" dirty="0" smtClean="0"/>
              <a:t>of 26 </a:t>
            </a:r>
            <a:r>
              <a:rPr lang="en-US" sz="2300" dirty="0"/>
              <a:t>percent. </a:t>
            </a:r>
            <a:r>
              <a:rPr lang="en-US" sz="2300" dirty="0" smtClean="0"/>
              <a:t>A new </a:t>
            </a:r>
            <a:r>
              <a:rPr lang="en-US" sz="2300" dirty="0"/>
              <a:t>assessment of quillback rockfish in 2023 </a:t>
            </a:r>
            <a:r>
              <a:rPr lang="en-US" sz="2300" dirty="0" smtClean="0"/>
              <a:t>would potentially have little </a:t>
            </a:r>
            <a:r>
              <a:rPr lang="en-US" sz="2300" dirty="0"/>
              <a:t>additional data </a:t>
            </a:r>
            <a:r>
              <a:rPr lang="en-US" sz="2300" dirty="0" smtClean="0"/>
              <a:t>compared </a:t>
            </a:r>
            <a:r>
              <a:rPr lang="en-US" sz="2300" dirty="0"/>
              <a:t>to the data included in the 2021 </a:t>
            </a:r>
            <a:r>
              <a:rPr lang="en-US" sz="2300" dirty="0" smtClean="0"/>
              <a:t>assessment</a:t>
            </a:r>
            <a:r>
              <a:rPr lang="en-US" sz="2300" dirty="0"/>
              <a:t>.  </a:t>
            </a:r>
            <a:endParaRPr lang="en-US" sz="2300" dirty="0" smtClean="0"/>
          </a:p>
          <a:p>
            <a:pPr>
              <a:spcAft>
                <a:spcPts val="400"/>
              </a:spcAft>
            </a:pPr>
            <a:r>
              <a:rPr lang="en-US" sz="2300" dirty="0" smtClean="0"/>
              <a:t>There may be a desire to select </a:t>
            </a:r>
            <a:r>
              <a:rPr lang="en-US" sz="2300" b="1" dirty="0"/>
              <a:t>c</a:t>
            </a:r>
            <a:r>
              <a:rPr lang="en-US" sz="2300" b="1" dirty="0" smtClean="0"/>
              <a:t>opper rockfish </a:t>
            </a:r>
            <a:r>
              <a:rPr lang="en-US" sz="2300" dirty="0" smtClean="0"/>
              <a:t>(#27) for </a:t>
            </a:r>
            <a:r>
              <a:rPr lang="en-US" sz="2300" dirty="0"/>
              <a:t>a full assessment in 2023 given the 2021 assessment results in California. The next full assessment could include the following omitted data in California specifically: recreational indices of abundance north and south of Point Conception (often uncertain), CCFRP index of abundance (North of Point Conception), historical length observations that were evaluated in the 2021 mop-up panels, age data from the NWFSC hook &amp; line survey (south of Point Conception), and very limited recreational ages. </a:t>
            </a:r>
            <a:endParaRPr lang="en-US" sz="2300" dirty="0" smtClean="0"/>
          </a:p>
          <a:p>
            <a:pPr>
              <a:spcAft>
                <a:spcPts val="400"/>
              </a:spcAft>
            </a:pPr>
            <a:r>
              <a:rPr lang="en-US" sz="2300" dirty="0" smtClean="0"/>
              <a:t>SSC </a:t>
            </a:r>
            <a:r>
              <a:rPr lang="en-US" sz="2300" dirty="0"/>
              <a:t>recommended workshops on using ROV data in assessments and how to handle spatial issues could provide recommended approaches that could be applied in a </a:t>
            </a:r>
            <a:r>
              <a:rPr lang="en-US" sz="2300" dirty="0" smtClean="0"/>
              <a:t>new assessment for both </a:t>
            </a:r>
            <a:r>
              <a:rPr lang="en-US" sz="2300" b="1" dirty="0" smtClean="0"/>
              <a:t>copper rockfish</a:t>
            </a:r>
            <a:r>
              <a:rPr lang="en-US" sz="2300" dirty="0" smtClean="0"/>
              <a:t> and </a:t>
            </a:r>
            <a:r>
              <a:rPr lang="en-US" sz="2300" b="1" dirty="0" smtClean="0"/>
              <a:t>quillback rockfish</a:t>
            </a:r>
            <a:r>
              <a:rPr lang="en-US" sz="2300" dirty="0" smtClean="0"/>
              <a:t>. 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713740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9" y="265399"/>
            <a:ext cx="10349766" cy="738211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78"/>
                </a:solidFill>
              </a:rPr>
              <a:t>Items to Consider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2069" y="1219199"/>
            <a:ext cx="11204294" cy="5248275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lang="en-US" sz="2700" dirty="0" smtClean="0"/>
              <a:t>The last full assessment of </a:t>
            </a:r>
            <a:r>
              <a:rPr lang="en-US" sz="2700" b="1" dirty="0" err="1" smtClean="0"/>
              <a:t>petrale</a:t>
            </a:r>
            <a:r>
              <a:rPr lang="en-US" sz="2700" b="1" dirty="0" smtClean="0"/>
              <a:t> sole</a:t>
            </a:r>
            <a:r>
              <a:rPr lang="en-US" sz="2700" dirty="0" smtClean="0"/>
              <a:t> (#3) was in 2013 and there is a new ecosystem driver of recruitment that could be included in the next full assessment.</a:t>
            </a:r>
          </a:p>
          <a:p>
            <a:pPr>
              <a:spcAft>
                <a:spcPts val="400"/>
              </a:spcAft>
            </a:pPr>
            <a:r>
              <a:rPr lang="en-US" sz="2700" dirty="0" smtClean="0"/>
              <a:t>The 2017 rebuilding analysis of </a:t>
            </a:r>
            <a:r>
              <a:rPr lang="en-US" sz="2700" b="1" dirty="0" err="1" smtClean="0"/>
              <a:t>yelloweye</a:t>
            </a:r>
            <a:r>
              <a:rPr lang="en-US" sz="2700" b="1" dirty="0" smtClean="0"/>
              <a:t> rockfish</a:t>
            </a:r>
            <a:r>
              <a:rPr lang="en-US" sz="2700" dirty="0" smtClean="0"/>
              <a:t> (#14) indicated the stock would rebuild with 50% probability in 2027. Given the limited additional available data since 2017, there may not be enough information to inform potential early rebuilding.</a:t>
            </a:r>
          </a:p>
          <a:p>
            <a:pPr>
              <a:spcAft>
                <a:spcPts val="400"/>
              </a:spcAft>
            </a:pPr>
            <a:r>
              <a:rPr lang="en-US" sz="2700" dirty="0" smtClean="0"/>
              <a:t>The last assessment of </a:t>
            </a:r>
            <a:r>
              <a:rPr lang="en-US" sz="2700" b="1" dirty="0" err="1" smtClean="0"/>
              <a:t>rougheye</a:t>
            </a:r>
            <a:r>
              <a:rPr lang="en-US" sz="2700" b="1" dirty="0" smtClean="0"/>
              <a:t>/</a:t>
            </a:r>
            <a:r>
              <a:rPr lang="en-US" sz="2700" b="1" dirty="0" err="1" smtClean="0"/>
              <a:t>blackspotted</a:t>
            </a:r>
            <a:r>
              <a:rPr lang="en-US" sz="2700" b="1" dirty="0" smtClean="0"/>
              <a:t> rockfish </a:t>
            </a:r>
            <a:r>
              <a:rPr lang="en-US" sz="2700" dirty="0" smtClean="0"/>
              <a:t>(#26)</a:t>
            </a:r>
            <a:r>
              <a:rPr lang="en-US" sz="2700" b="1" i="1" dirty="0" smtClean="0"/>
              <a:t> </a:t>
            </a:r>
            <a:r>
              <a:rPr lang="en-US" sz="2700" dirty="0" smtClean="0"/>
              <a:t>was last assessed in 2013. In the absence of a new assessment future catches may be limited by future ACLs. Additionally, there may be new genetic information to inform the proportion of </a:t>
            </a:r>
            <a:r>
              <a:rPr lang="en-US" sz="2700" dirty="0" err="1" smtClean="0"/>
              <a:t>blackspotted</a:t>
            </a:r>
            <a:r>
              <a:rPr lang="en-US" sz="2700" dirty="0" smtClean="0"/>
              <a:t> rockfish and if low, a new assessment may be considered category 1 (existing model is a category 2).</a:t>
            </a:r>
            <a:endParaRPr lang="en-US" sz="2700" b="1" dirty="0" smtClean="0"/>
          </a:p>
          <a:p>
            <a:pPr>
              <a:spcAft>
                <a:spcPts val="400"/>
              </a:spcAft>
            </a:pPr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2933622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9" y="265399"/>
            <a:ext cx="10349766" cy="738211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78"/>
                </a:solidFill>
              </a:rPr>
              <a:t>Items to Consider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2069" y="1219199"/>
            <a:ext cx="11204294" cy="5248275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lang="en-US" sz="2700" dirty="0" smtClean="0"/>
              <a:t>The last assessments of </a:t>
            </a:r>
            <a:r>
              <a:rPr lang="en-US" sz="2700" b="1" dirty="0" err="1" smtClean="0"/>
              <a:t>longspine</a:t>
            </a:r>
            <a:r>
              <a:rPr lang="en-US" sz="2700" b="1" dirty="0" smtClean="0"/>
              <a:t> </a:t>
            </a:r>
            <a:r>
              <a:rPr lang="en-US" sz="2700" b="1" dirty="0" err="1" smtClean="0"/>
              <a:t>thornyhead</a:t>
            </a:r>
            <a:r>
              <a:rPr lang="en-US" sz="2700" dirty="0"/>
              <a:t> </a:t>
            </a:r>
            <a:r>
              <a:rPr lang="en-US" sz="2700" dirty="0" smtClean="0"/>
              <a:t>(#44) and </a:t>
            </a:r>
            <a:r>
              <a:rPr lang="en-US" sz="2700" b="1" dirty="0" err="1" smtClean="0"/>
              <a:t>shortspine</a:t>
            </a:r>
            <a:r>
              <a:rPr lang="en-US" sz="2700" b="1" dirty="0" smtClean="0"/>
              <a:t> </a:t>
            </a:r>
            <a:r>
              <a:rPr lang="en-US" sz="2700" b="1" dirty="0" err="1" smtClean="0"/>
              <a:t>thornyhead</a:t>
            </a:r>
            <a:r>
              <a:rPr lang="en-US" sz="2700" b="1" dirty="0" smtClean="0"/>
              <a:t> </a:t>
            </a:r>
            <a:r>
              <a:rPr lang="en-US" sz="2700" dirty="0" smtClean="0"/>
              <a:t>(#37) were in 2013. These species may be ideal candidates for a catch, length, and index data-moderate assessment since </a:t>
            </a:r>
            <a:r>
              <a:rPr lang="en-US" sz="2700" dirty="0" err="1" smtClean="0"/>
              <a:t>thornyhead</a:t>
            </a:r>
            <a:r>
              <a:rPr lang="en-US" sz="2700" dirty="0" smtClean="0"/>
              <a:t> are unable to be aged and both species are well by the NWFSC WCGBT survey allowing for the inclusion of an index of abundance.</a:t>
            </a:r>
          </a:p>
          <a:p>
            <a:pPr>
              <a:spcAft>
                <a:spcPts val="400"/>
              </a:spcAft>
            </a:pPr>
            <a:r>
              <a:rPr lang="en-US" sz="2700" dirty="0" smtClean="0"/>
              <a:t> </a:t>
            </a:r>
            <a:r>
              <a:rPr lang="en-US" sz="2700" b="1" dirty="0" smtClean="0"/>
              <a:t>English sole</a:t>
            </a:r>
            <a:r>
              <a:rPr lang="en-US" sz="2700" dirty="0" smtClean="0"/>
              <a:t> (#29) and </a:t>
            </a:r>
            <a:r>
              <a:rPr lang="en-US" sz="2700" b="1" dirty="0" smtClean="0"/>
              <a:t>rex sole </a:t>
            </a:r>
            <a:r>
              <a:rPr lang="en-US" sz="2700" dirty="0" smtClean="0"/>
              <a:t>(#23)</a:t>
            </a:r>
            <a:r>
              <a:rPr lang="en-US" sz="2700" b="1" dirty="0" smtClean="0"/>
              <a:t> </a:t>
            </a:r>
            <a:r>
              <a:rPr lang="en-US" sz="2700" dirty="0" smtClean="0"/>
              <a:t>were last assessed in 2013 as data-moderate assessments (index-based). These two species are well observed by the NWFSC WCGBT survey and may be good candidates for a catch, length, and index data-moderate assessment.</a:t>
            </a:r>
          </a:p>
          <a:p>
            <a:pPr>
              <a:spcAft>
                <a:spcPts val="400"/>
              </a:spcAft>
            </a:pPr>
            <a:r>
              <a:rPr lang="en-US" sz="2700" b="1" dirty="0" err="1" smtClean="0"/>
              <a:t>Greenstriped</a:t>
            </a:r>
            <a:r>
              <a:rPr lang="en-US" sz="2700" b="1" dirty="0" smtClean="0"/>
              <a:t> rockfish</a:t>
            </a:r>
            <a:r>
              <a:rPr lang="en-US" sz="2700" dirty="0" smtClean="0"/>
              <a:t> (#25) was last assessed in 2009. Similar to the above species, </a:t>
            </a:r>
            <a:r>
              <a:rPr lang="en-US" sz="2700" dirty="0" err="1" smtClean="0"/>
              <a:t>greenstriped</a:t>
            </a:r>
            <a:r>
              <a:rPr lang="en-US" sz="2700" dirty="0" smtClean="0"/>
              <a:t> rockfish may be a candidate for a catch, length, </a:t>
            </a:r>
            <a:r>
              <a:rPr lang="en-US" sz="2700" dirty="0" smtClean="0"/>
              <a:t>and index data-moderate </a:t>
            </a:r>
            <a:r>
              <a:rPr lang="en-US" sz="2700" dirty="0" err="1" smtClean="0"/>
              <a:t>assesements</a:t>
            </a:r>
            <a:r>
              <a:rPr lang="en-US" sz="2700" dirty="0" smtClean="0"/>
              <a:t> in 2023.</a:t>
            </a:r>
            <a:endParaRPr lang="en-US" sz="2700" b="1" dirty="0" smtClean="0"/>
          </a:p>
          <a:p>
            <a:pPr>
              <a:spcAft>
                <a:spcPts val="400"/>
              </a:spcAft>
            </a:pPr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3873213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5" y="29326"/>
            <a:ext cx="11132582" cy="1136866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2023 </a:t>
            </a:r>
            <a:r>
              <a:rPr lang="en-US" sz="4000" b="1" dirty="0" smtClean="0"/>
              <a:t>Calendar, with potential review meeting dates</a:t>
            </a:r>
            <a:endParaRPr lang="en-US" sz="4000" dirty="0">
              <a:solidFill>
                <a:srgbClr val="007078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812880"/>
            <a:ext cx="7426306" cy="577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00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0947-329C-1643-B0EB-1994976FA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69" y="265399"/>
            <a:ext cx="10349766" cy="1202454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78"/>
                </a:solidFill>
              </a:rPr>
              <a:t>Questions</a:t>
            </a:r>
            <a:endParaRPr lang="en-US" sz="4000" dirty="0">
              <a:solidFill>
                <a:srgbClr val="007078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BB8E-CC5A-0343-A700-E2232476E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2069" y="1467853"/>
            <a:ext cx="11204294" cy="4643015"/>
          </a:xfrm>
        </p:spPr>
        <p:txBody>
          <a:bodyPr>
            <a:normAutofit/>
          </a:bodyPr>
          <a:lstStyle/>
          <a:p>
            <a:r>
              <a:rPr lang="en-US" sz="3200" dirty="0" smtClean="0"/>
              <a:t>Additional question on E.8 </a:t>
            </a:r>
            <a:r>
              <a:rPr lang="en-US" sz="3200" dirty="0"/>
              <a:t>Attachment 3: NMFS assessment prioritization </a:t>
            </a:r>
            <a:r>
              <a:rPr lang="en-US" sz="3200" dirty="0" smtClean="0"/>
              <a:t>workbook?</a:t>
            </a:r>
            <a:endParaRPr lang="en-US" sz="3200" dirty="0"/>
          </a:p>
          <a:p>
            <a:endParaRPr lang="en-US" sz="3200" dirty="0" smtClean="0"/>
          </a:p>
          <a:p>
            <a:r>
              <a:rPr lang="en-US" sz="3200" dirty="0" smtClean="0"/>
              <a:t>Questions on E.8 </a:t>
            </a:r>
            <a:r>
              <a:rPr lang="en-US" sz="3200" dirty="0"/>
              <a:t>Attachment 2: Detailed summary of available data to support stock </a:t>
            </a:r>
            <a:r>
              <a:rPr lang="en-US" sz="3200" dirty="0" smtClean="0"/>
              <a:t>assessments?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>
              <a:spcAft>
                <a:spcPts val="4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1570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in Title-Teal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Presentation widecreen" id="{B74B449F-A425-2F4F-8721-B93E14EA19DB}" vid="{E32F22CB-176F-1946-BBB2-744863961F50}"/>
    </a:ext>
  </a:extLst>
</a:theme>
</file>

<file path=ppt/theme/theme2.xml><?xml version="1.0" encoding="utf-8"?>
<a:theme xmlns:a="http://schemas.openxmlformats.org/drawingml/2006/main" name="1_View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Presentation widecreen" id="{B74B449F-A425-2F4F-8721-B93E14EA19DB}" vid="{459B28F1-56FE-024C-8431-D1C37F92382D}"/>
    </a:ext>
  </a:extLst>
</a:theme>
</file>

<file path=ppt/theme/theme3.xml><?xml version="1.0" encoding="utf-8"?>
<a:theme xmlns:a="http://schemas.openxmlformats.org/drawingml/2006/main" name="Intro TEAL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Presentation widecreen" id="{B74B449F-A425-2F4F-8721-B93E14EA19DB}" vid="{9CD04C39-DBCA-C440-B820-AFCA4C130F8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13585</TotalTime>
  <Words>1794</Words>
  <Application>Microsoft Office PowerPoint</Application>
  <PresentationFormat>Widescreen</PresentationFormat>
  <Paragraphs>246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Narrow</vt:lpstr>
      <vt:lpstr>Calibri</vt:lpstr>
      <vt:lpstr>Cambria</vt:lpstr>
      <vt:lpstr>Wingdings 2</vt:lpstr>
      <vt:lpstr>Main Title-Teal</vt:lpstr>
      <vt:lpstr>1_View</vt:lpstr>
      <vt:lpstr>Intro TEAL</vt:lpstr>
      <vt:lpstr>Prioritizing Groundfish  Stock Assessments</vt:lpstr>
      <vt:lpstr>Assessment Prioritization Material Overview</vt:lpstr>
      <vt:lpstr>Assessment Prioritization Material Overview</vt:lpstr>
      <vt:lpstr>Outline</vt:lpstr>
      <vt:lpstr>PowerPoint Presentation</vt:lpstr>
      <vt:lpstr>PowerPoint Presentation</vt:lpstr>
      <vt:lpstr>Fishery Importance –  Commercial</vt:lpstr>
      <vt:lpstr>Fishery Importance –  Recreational</vt:lpstr>
      <vt:lpstr>Tribal Importance –  Subsistence &amp; Fish Sales</vt:lpstr>
      <vt:lpstr>Choke Species and  Constituent Demand</vt:lpstr>
      <vt:lpstr>Rebuilding Stocks</vt:lpstr>
      <vt:lpstr>Stock Status</vt:lpstr>
      <vt:lpstr>Fishing Mortality</vt:lpstr>
      <vt:lpstr>Ecosystem Importance</vt:lpstr>
      <vt:lpstr>Assessment – New Information</vt:lpstr>
      <vt:lpstr>Target Frequency &amp; Years Since Last Assessment</vt:lpstr>
      <vt:lpstr>Target Frequency &amp;  Years Since Last Assessment</vt:lpstr>
      <vt:lpstr>Total Weighted Factor Scores</vt:lpstr>
      <vt:lpstr>PowerPoint Presentation</vt:lpstr>
      <vt:lpstr>PowerPoint Presentation</vt:lpstr>
      <vt:lpstr>Data Availability: Species 16-30</vt:lpstr>
      <vt:lpstr>Items to Consider</vt:lpstr>
      <vt:lpstr>Items to Consider</vt:lpstr>
      <vt:lpstr>Items to Consider</vt:lpstr>
      <vt:lpstr>Items to Consider</vt:lpstr>
      <vt:lpstr>2023 Calendar, with potential review meeting dates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Page Head</dc:title>
  <dc:creator>Microsoft Office User</dc:creator>
  <cp:lastModifiedBy>Chantel.Wetzel</cp:lastModifiedBy>
  <cp:revision>140</cp:revision>
  <dcterms:created xsi:type="dcterms:W3CDTF">2019-09-23T21:05:27Z</dcterms:created>
  <dcterms:modified xsi:type="dcterms:W3CDTF">2022-02-25T22:51:40Z</dcterms:modified>
</cp:coreProperties>
</file>